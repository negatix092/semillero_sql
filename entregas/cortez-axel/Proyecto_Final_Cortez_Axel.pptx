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6A787-4A36-4BD3-AED8-15B104A0226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BE57-BE6E-43BF-87EC-337D9EB379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4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BE57-BE6E-43BF-87EC-337D9EB379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76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BE57-BE6E-43BF-87EC-337D9EB379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86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2424"/>
            <a:ext cx="111556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rPr lang="en-US" sz="3200" dirty="0" err="1"/>
              <a:t>AgroDB</a:t>
            </a:r>
            <a:r>
              <a:rPr lang="en-US" sz="3200" dirty="0"/>
              <a:t> Integrator</a:t>
            </a:r>
            <a:endParaRPr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521207" y="10541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rPr lang="es-MX" dirty="0"/>
              <a:t>Informe ejecutivo de producción agrícola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t>EL CIERRE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01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6260" y="1299505"/>
            <a:ext cx="6309868" cy="1515811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573532" y="1350772"/>
            <a:ext cx="45719" cy="14732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7456" y="1585051"/>
            <a:ext cx="602996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400" b="1" dirty="0"/>
              <a:t>Datos del expositor: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 Axel Cortez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 Microsoft </a:t>
            </a:r>
            <a:r>
              <a:rPr lang="es-MX" sz="1400" dirty="0" err="1"/>
              <a:t>Power</a:t>
            </a:r>
            <a:r>
              <a:rPr lang="es-MX" sz="1400" dirty="0"/>
              <a:t>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 Integración, análisis y auditoría de datos agrícolas</a:t>
            </a: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DD485E38-58F3-D031-E6BF-E765650721C1}"/>
              </a:ext>
            </a:extLst>
          </p:cNvPr>
          <p:cNvSpPr txBox="1"/>
          <p:nvPr/>
        </p:nvSpPr>
        <p:spPr>
          <a:xfrm>
            <a:off x="7315201" y="1612597"/>
            <a:ext cx="438911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rPr lang="en-US" sz="2000" dirty="0"/>
              <a:t>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datos</a:t>
            </a:r>
            <a:r>
              <a:rPr lang="en-US" sz="2000" dirty="0"/>
              <a:t> </a:t>
            </a:r>
            <a:r>
              <a:rPr lang="en-US" sz="2000" dirty="0" err="1"/>
              <a:t>agricolas</a:t>
            </a:r>
            <a:r>
              <a:rPr lang="en-US" sz="2000" dirty="0"/>
              <a:t> a </a:t>
            </a:r>
            <a:r>
              <a:rPr lang="en-US" sz="2000" dirty="0" err="1"/>
              <a:t>decisiones</a:t>
            </a:r>
            <a:r>
              <a:rPr lang="en-US" sz="2000" dirty="0"/>
              <a:t> </a:t>
            </a:r>
            <a:r>
              <a:rPr lang="en-US" sz="2000" dirty="0" err="1"/>
              <a:t>estrategicas</a:t>
            </a:r>
            <a:endParaRPr sz="2000" dirty="0"/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7E4EDEA8-39EC-9AAC-B9E2-E7A583C14C55}"/>
              </a:ext>
            </a:extLst>
          </p:cNvPr>
          <p:cNvSpPr txBox="1"/>
          <p:nvPr/>
        </p:nvSpPr>
        <p:spPr>
          <a:xfrm>
            <a:off x="7266433" y="2351971"/>
            <a:ext cx="4621277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rPr lang="en-US" dirty="0" err="1"/>
              <a:t>Analisis</a:t>
            </a:r>
            <a:r>
              <a:rPr lang="en-US" dirty="0"/>
              <a:t> de </a:t>
            </a:r>
            <a:r>
              <a:rPr lang="en-US" dirty="0" err="1"/>
              <a:t>produccion</a:t>
            </a:r>
            <a:r>
              <a:rPr lang="en-US" dirty="0"/>
              <a:t>, </a:t>
            </a:r>
            <a:r>
              <a:rPr lang="en-US" dirty="0" err="1"/>
              <a:t>cumplimiento</a:t>
            </a:r>
            <a:r>
              <a:rPr lang="en-US" dirty="0"/>
              <a:t> de </a:t>
            </a:r>
            <a:r>
              <a:rPr lang="en-US" dirty="0" err="1"/>
              <a:t>metas</a:t>
            </a:r>
            <a:r>
              <a:rPr lang="en-US" dirty="0"/>
              <a:t> y </a:t>
            </a:r>
            <a:r>
              <a:rPr lang="en-US" dirty="0" err="1"/>
              <a:t>calidad</a:t>
            </a:r>
            <a:r>
              <a:rPr lang="en-US" dirty="0"/>
              <a:t> de la </a:t>
            </a:r>
            <a:r>
              <a:rPr lang="en-US" dirty="0" err="1"/>
              <a:t>informacion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16812CC5-F43A-94DC-B8CC-1A2E17072FD7}"/>
              </a:ext>
            </a:extLst>
          </p:cNvPr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2D7EFFC6-CE1D-2ED8-C893-CA81739D63F6}"/>
              </a:ext>
            </a:extLst>
          </p:cNvPr>
          <p:cNvSpPr/>
          <p:nvPr/>
        </p:nvSpPr>
        <p:spPr>
          <a:xfrm>
            <a:off x="548640" y="3154172"/>
            <a:ext cx="3538728" cy="1983232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E68842E4-7D31-3EEE-620C-6ED5F3AC0697}"/>
              </a:ext>
            </a:extLst>
          </p:cNvPr>
          <p:cNvSpPr/>
          <p:nvPr/>
        </p:nvSpPr>
        <p:spPr>
          <a:xfrm>
            <a:off x="560832" y="3230372"/>
            <a:ext cx="50292" cy="1901952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A0D195FF-3B0D-0F2F-0A4C-51BA02D77E64}"/>
              </a:ext>
            </a:extLst>
          </p:cNvPr>
          <p:cNvSpPr txBox="1"/>
          <p:nvPr/>
        </p:nvSpPr>
        <p:spPr>
          <a:xfrm>
            <a:off x="937514" y="3416504"/>
            <a:ext cx="299008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rPr dirty="0"/>
              <a:t>PRODUCCIÓN</a:t>
            </a: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4A92A672-7989-B940-3C00-4E188AF07ABE}"/>
              </a:ext>
            </a:extLst>
          </p:cNvPr>
          <p:cNvSpPr txBox="1"/>
          <p:nvPr/>
        </p:nvSpPr>
        <p:spPr>
          <a:xfrm>
            <a:off x="932688" y="3643884"/>
            <a:ext cx="2944368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704264"/>
                </a:solidFill>
                <a:latin typeface="Aptos"/>
              </a:defRPr>
            </a:pPr>
            <a:r>
              <a:rPr dirty="0"/>
              <a:t>91.300 kg</a:t>
            </a: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F0897E5C-AEED-C6F2-B16B-E21A6C587D0F}"/>
              </a:ext>
            </a:extLst>
          </p:cNvPr>
          <p:cNvSpPr txBox="1"/>
          <p:nvPr/>
        </p:nvSpPr>
        <p:spPr>
          <a:xfrm>
            <a:off x="932688" y="4472940"/>
            <a:ext cx="294436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rPr dirty="0" err="1"/>
              <a:t>Producción</a:t>
            </a:r>
            <a:r>
              <a:rPr dirty="0"/>
              <a:t> </a:t>
            </a:r>
            <a:r>
              <a:rPr dirty="0" err="1"/>
              <a:t>acumulada</a:t>
            </a:r>
            <a:endParaRPr dirty="0"/>
          </a:p>
        </p:txBody>
      </p:sp>
      <p:sp>
        <p:nvSpPr>
          <p:cNvPr id="35" name="Rounded Rectangle 13">
            <a:extLst>
              <a:ext uri="{FF2B5EF4-FFF2-40B4-BE49-F238E27FC236}">
                <a16:creationId xmlns:a16="http://schemas.microsoft.com/office/drawing/2014/main" id="{4A8454B3-AD19-F624-2523-CB6998E3FB64}"/>
              </a:ext>
            </a:extLst>
          </p:cNvPr>
          <p:cNvSpPr/>
          <p:nvPr/>
        </p:nvSpPr>
        <p:spPr>
          <a:xfrm>
            <a:off x="4279392" y="3048000"/>
            <a:ext cx="3538728" cy="2089403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14">
            <a:extLst>
              <a:ext uri="{FF2B5EF4-FFF2-40B4-BE49-F238E27FC236}">
                <a16:creationId xmlns:a16="http://schemas.microsoft.com/office/drawing/2014/main" id="{5D277216-8B47-9494-98A6-6F2AE9B149E0}"/>
              </a:ext>
            </a:extLst>
          </p:cNvPr>
          <p:cNvSpPr/>
          <p:nvPr/>
        </p:nvSpPr>
        <p:spPr>
          <a:xfrm>
            <a:off x="4290059" y="3192272"/>
            <a:ext cx="50292" cy="1901952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66E3475D-548F-179C-C62A-115730063919}"/>
              </a:ext>
            </a:extLst>
          </p:cNvPr>
          <p:cNvSpPr txBox="1"/>
          <p:nvPr/>
        </p:nvSpPr>
        <p:spPr>
          <a:xfrm>
            <a:off x="4770628" y="3352292"/>
            <a:ext cx="299008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rPr dirty="0"/>
              <a:t>META</a:t>
            </a: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40E46D3A-0BE3-087C-EBFD-275A2AF28510}"/>
              </a:ext>
            </a:extLst>
          </p:cNvPr>
          <p:cNvSpPr txBox="1"/>
          <p:nvPr/>
        </p:nvSpPr>
        <p:spPr>
          <a:xfrm>
            <a:off x="4750308" y="3643884"/>
            <a:ext cx="2944368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704264"/>
                </a:solidFill>
                <a:latin typeface="Aptos"/>
              </a:defRPr>
            </a:pPr>
            <a:r>
              <a:rPr dirty="0"/>
              <a:t>86.200 kg</a:t>
            </a:r>
          </a:p>
        </p:txBody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E450362B-C5CA-EC10-3D5C-0E9F50F61FDE}"/>
              </a:ext>
            </a:extLst>
          </p:cNvPr>
          <p:cNvSpPr txBox="1"/>
          <p:nvPr/>
        </p:nvSpPr>
        <p:spPr>
          <a:xfrm>
            <a:off x="4750308" y="4471046"/>
            <a:ext cx="294436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rPr dirty="0"/>
              <a:t>Meta del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periodo</a:t>
            </a:r>
            <a:endParaRPr dirty="0"/>
          </a:p>
        </p:txBody>
      </p:sp>
      <p:sp>
        <p:nvSpPr>
          <p:cNvPr id="40" name="Rounded Rectangle 18">
            <a:extLst>
              <a:ext uri="{FF2B5EF4-FFF2-40B4-BE49-F238E27FC236}">
                <a16:creationId xmlns:a16="http://schemas.microsoft.com/office/drawing/2014/main" id="{C4B6537F-BC3D-5507-E5BC-BF356A638111}"/>
              </a:ext>
            </a:extLst>
          </p:cNvPr>
          <p:cNvSpPr/>
          <p:nvPr/>
        </p:nvSpPr>
        <p:spPr>
          <a:xfrm>
            <a:off x="8119872" y="3047999"/>
            <a:ext cx="3538728" cy="2091397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19">
            <a:extLst>
              <a:ext uri="{FF2B5EF4-FFF2-40B4-BE49-F238E27FC236}">
                <a16:creationId xmlns:a16="http://schemas.microsoft.com/office/drawing/2014/main" id="{42AF2951-2EC4-9905-F517-87486A3AD791}"/>
              </a:ext>
            </a:extLst>
          </p:cNvPr>
          <p:cNvSpPr/>
          <p:nvPr/>
        </p:nvSpPr>
        <p:spPr>
          <a:xfrm>
            <a:off x="8124444" y="3179572"/>
            <a:ext cx="50292" cy="1901952"/>
          </a:xfrm>
          <a:prstGeom prst="rect">
            <a:avLst/>
          </a:prstGeom>
          <a:solidFill>
            <a:srgbClr val="237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2590455B-A896-26A8-F621-BCE7ACDD485A}"/>
              </a:ext>
            </a:extLst>
          </p:cNvPr>
          <p:cNvSpPr txBox="1"/>
          <p:nvPr/>
        </p:nvSpPr>
        <p:spPr>
          <a:xfrm>
            <a:off x="8458200" y="3352292"/>
            <a:ext cx="299008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rPr dirty="0"/>
              <a:t>CUMPLIMIENTO</a:t>
            </a:r>
          </a:p>
        </p:txBody>
      </p:sp>
      <p:sp>
        <p:nvSpPr>
          <p:cNvPr id="43" name="TextBox 21">
            <a:extLst>
              <a:ext uri="{FF2B5EF4-FFF2-40B4-BE49-F238E27FC236}">
                <a16:creationId xmlns:a16="http://schemas.microsoft.com/office/drawing/2014/main" id="{178BF526-95D6-3720-D672-C77EB9540F00}"/>
              </a:ext>
            </a:extLst>
          </p:cNvPr>
          <p:cNvSpPr txBox="1"/>
          <p:nvPr/>
        </p:nvSpPr>
        <p:spPr>
          <a:xfrm>
            <a:off x="8481060" y="3601170"/>
            <a:ext cx="2944368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37E62"/>
                </a:solidFill>
                <a:latin typeface="Aptos"/>
              </a:defRPr>
            </a:pPr>
            <a:r>
              <a:rPr dirty="0"/>
              <a:t>105,92 %</a:t>
            </a: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A4441C13-97DD-622A-CF65-C36CE259F25B}"/>
              </a:ext>
            </a:extLst>
          </p:cNvPr>
          <p:cNvSpPr txBox="1"/>
          <p:nvPr/>
        </p:nvSpPr>
        <p:spPr>
          <a:xfrm>
            <a:off x="8458200" y="4472940"/>
            <a:ext cx="294436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rPr dirty="0"/>
              <a:t>+5.100 kg </a:t>
            </a:r>
            <a:r>
              <a:rPr dirty="0" err="1"/>
              <a:t>sobre</a:t>
            </a:r>
            <a:r>
              <a:rPr dirty="0"/>
              <a:t> la meta</a:t>
            </a:r>
          </a:p>
        </p:txBody>
      </p:sp>
      <p:sp>
        <p:nvSpPr>
          <p:cNvPr id="45" name="Rounded Rectangle 23">
            <a:extLst>
              <a:ext uri="{FF2B5EF4-FFF2-40B4-BE49-F238E27FC236}">
                <a16:creationId xmlns:a16="http://schemas.microsoft.com/office/drawing/2014/main" id="{75A6858F-0A00-1394-6973-9585BB3C448A}"/>
              </a:ext>
            </a:extLst>
          </p:cNvPr>
          <p:cNvSpPr/>
          <p:nvPr/>
        </p:nvSpPr>
        <p:spPr>
          <a:xfrm>
            <a:off x="548640" y="5412700"/>
            <a:ext cx="11064240" cy="990132"/>
          </a:xfrm>
          <a:prstGeom prst="roundRect">
            <a:avLst/>
          </a:prstGeom>
          <a:solidFill>
            <a:srgbClr val="E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73D40CA7-E4B8-FD5C-C24D-12E8D5808E25}"/>
              </a:ext>
            </a:extLst>
          </p:cNvPr>
          <p:cNvSpPr txBox="1"/>
          <p:nvPr/>
        </p:nvSpPr>
        <p:spPr>
          <a:xfrm>
            <a:off x="822960" y="5691632"/>
            <a:ext cx="30175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704264"/>
                </a:solidFill>
                <a:latin typeface="Aptos"/>
              </a:defRPr>
            </a:pPr>
            <a:r>
              <a:rPr dirty="0" err="1"/>
              <a:t>Mensaje</a:t>
            </a:r>
            <a:r>
              <a:rPr dirty="0"/>
              <a:t> para </a:t>
            </a:r>
            <a:r>
              <a:rPr dirty="0" err="1"/>
              <a:t>dirección</a:t>
            </a:r>
            <a:endParaRPr dirty="0"/>
          </a:p>
        </p:txBody>
      </p:sp>
      <p:sp>
        <p:nvSpPr>
          <p:cNvPr id="47" name="TextBox 25">
            <a:extLst>
              <a:ext uri="{FF2B5EF4-FFF2-40B4-BE49-F238E27FC236}">
                <a16:creationId xmlns:a16="http://schemas.microsoft.com/office/drawing/2014/main" id="{56D2EEEC-E857-E3A6-C8B6-50A7739E79E7}"/>
              </a:ext>
            </a:extLst>
          </p:cNvPr>
          <p:cNvSpPr txBox="1"/>
          <p:nvPr/>
        </p:nvSpPr>
        <p:spPr>
          <a:xfrm>
            <a:off x="3703320" y="5566156"/>
            <a:ext cx="758952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1E31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supera</a:t>
            </a:r>
            <a:r>
              <a:rPr dirty="0"/>
              <a:t> la meta global,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desempeño</a:t>
            </a:r>
            <a:r>
              <a:rPr dirty="0"/>
              <a:t> no es </a:t>
            </a:r>
            <a:r>
              <a:rPr dirty="0" err="1"/>
              <a:t>uniforme</a:t>
            </a:r>
            <a:r>
              <a:rPr dirty="0"/>
              <a:t> entre fincas.</a:t>
            </a:r>
          </a:p>
        </p:txBody>
      </p:sp>
    </p:spTree>
    <p:extLst>
      <p:ext uri="{BB962C8B-B14F-4D97-AF65-F5344CB8AC3E}">
        <p14:creationId xmlns:p14="http://schemas.microsoft.com/office/powerpoint/2010/main" val="3113260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t>91.300 kg cosechados frente a 86.200 kg de meta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716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t>Cierre enero–septiembre de 2026 · Visión ejecutiva de AgroDB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t>EL CIERRE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93392"/>
            <a:ext cx="3538728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2176272"/>
            <a:ext cx="50292" cy="1901952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t>PRODUCCIÓN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15184"/>
            <a:ext cx="2944368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704264"/>
                </a:solidFill>
                <a:latin typeface="Aptos"/>
              </a:defRPr>
            </a:pPr>
            <a:r>
              <a:t>91.300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294436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t>Producción acumulada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993392"/>
            <a:ext cx="3538728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59" y="2176272"/>
            <a:ext cx="50292" cy="1901952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0016" y="2221992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t>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615184"/>
            <a:ext cx="2944368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704264"/>
                </a:solidFill>
                <a:latin typeface="Aptos"/>
              </a:defRPr>
            </a:pPr>
            <a:r>
              <a:t>86.200 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291840"/>
            <a:ext cx="294436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t>Meta del mismo periodo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993392"/>
            <a:ext cx="3538728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38744" y="2176272"/>
            <a:ext cx="50292" cy="1901952"/>
          </a:xfrm>
          <a:prstGeom prst="rect">
            <a:avLst/>
          </a:prstGeom>
          <a:solidFill>
            <a:srgbClr val="237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2221992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t>CUMPLIMIENTO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615184"/>
            <a:ext cx="2944368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237E62"/>
                </a:solidFill>
                <a:latin typeface="Aptos"/>
              </a:defRPr>
            </a:pPr>
            <a:r>
              <a:t>105,92 %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291840"/>
            <a:ext cx="294436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t>+5.100 kg sobre la meta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99432"/>
            <a:ext cx="11064240" cy="1143000"/>
          </a:xfrm>
          <a:prstGeom prst="roundRect">
            <a:avLst/>
          </a:prstGeom>
          <a:solidFill>
            <a:srgbClr val="E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8280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704264"/>
                </a:solidFill>
                <a:latin typeface="Aptos"/>
              </a:defRPr>
            </a:pPr>
            <a:r>
              <a:t>Mensaje para dirección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791456"/>
            <a:ext cx="7589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1E31"/>
                </a:solidFill>
                <a:latin typeface="Aptos"/>
              </a:defRPr>
            </a:pPr>
            <a:r>
              <a:t>La empresa supera la meta global, pero el desempeño no es uniforme entre fincas.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rPr dirty="0"/>
              <a:t>Una vista </a:t>
            </a:r>
            <a:r>
              <a:rPr dirty="0" err="1"/>
              <a:t>ejecutiva</a:t>
            </a:r>
            <a:r>
              <a:rPr dirty="0"/>
              <a:t> para </a:t>
            </a:r>
            <a:r>
              <a:rPr dirty="0" err="1"/>
              <a:t>decidir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21207" y="13716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t>Resumen · Indicadores, evolución mensual y desempeño por finca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t>EL TABLERO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/ 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1856231"/>
            <a:ext cx="7635240" cy="4178808"/>
          </a:xfrm>
          <a:prstGeom prst="roundRect">
            <a:avLst/>
          </a:prstGeom>
          <a:solidFill>
            <a:srgbClr val="F0EAF2"/>
          </a:solidFill>
          <a:ln>
            <a:solidFill>
              <a:srgbClr val="C9B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94192" y="1856231"/>
            <a:ext cx="322783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94192" y="1856231"/>
            <a:ext cx="82296" cy="192024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2057400"/>
            <a:ext cx="2724911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04264"/>
                </a:solidFill>
                <a:latin typeface="Aptos"/>
              </a:defRPr>
            </a:pPr>
            <a:r>
              <a:t>Qué muestra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87752"/>
            <a:ext cx="2679191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Kilos, meta, cumplimiento e ingresos del periodo.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3959352"/>
            <a:ext cx="3227832" cy="2075688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94192" y="3959352"/>
            <a:ext cx="82296" cy="2075688"/>
          </a:xfrm>
          <a:prstGeom prst="rect">
            <a:avLst/>
          </a:prstGeom>
          <a:solidFill>
            <a:srgbClr val="237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8512" y="4160520"/>
            <a:ext cx="2724911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7E62"/>
                </a:solidFill>
                <a:latin typeface="Aptos"/>
              </a:defRPr>
            </a:pPr>
            <a:r>
              <a:t>Cómo usarlo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690872"/>
            <a:ext cx="2679191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Identificar desviaciones por finca y revisar la tendencia mensual.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B09993D-184B-0258-2D98-7493DA472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50" y="2300598"/>
            <a:ext cx="7321295" cy="3446089"/>
          </a:xfrm>
          <a:prstGeom prst="rect">
            <a:avLst/>
          </a:prstGeom>
          <a:effectLst>
            <a:softEdge rad="381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t>La meta global se cumple; una finca queda rezagada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716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t>No basta con mirar el 105,92 % de cumplimiento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t>HALLAZGO 1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/ 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365760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50292" cy="1755648"/>
          </a:xfrm>
          <a:prstGeom prst="rect">
            <a:avLst/>
          </a:prstGeom>
          <a:solidFill>
            <a:srgbClr val="B83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1031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t>AGRÍCOLA LA UNIÓN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96312"/>
            <a:ext cx="306324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B83F53"/>
                </a:solidFill>
                <a:latin typeface="Aptos"/>
              </a:defRPr>
            </a:pPr>
            <a:r>
              <a:t>76,61 %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172968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t>4.750 kg frente a 6.200 kg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874519"/>
            <a:ext cx="7150608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1874519"/>
            <a:ext cx="82296" cy="2121408"/>
          </a:xfrm>
          <a:prstGeom prst="rect">
            <a:avLst/>
          </a:prstGeom>
          <a:solidFill>
            <a:srgbClr val="B83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2075688"/>
            <a:ext cx="664768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83F53"/>
                </a:solidFill>
                <a:latin typeface="Aptos"/>
              </a:defRPr>
            </a:pPr>
            <a:r>
              <a:t>Interpretación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06039"/>
            <a:ext cx="6601968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La Unión presenta una brecha de 1.450 kg, aunque las otras tres fincas superan sus metas.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24528"/>
            <a:ext cx="110642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224528"/>
            <a:ext cx="82296" cy="155448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425696"/>
            <a:ext cx="1056131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04264"/>
                </a:solidFill>
                <a:latin typeface="Aptos"/>
              </a:defRPr>
            </a:pPr>
            <a:r>
              <a:t>Recomendación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956048"/>
            <a:ext cx="10515600" cy="713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Priorizar un diagnóstico operativo de La Unión y revisar sus causas antes del próximo cierre.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t>Los Ceibos concentra gran parte de la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716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t>La contribución por finca es desigual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t>HALLAZGO 2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/ 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3749039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50292" cy="1901952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103120"/>
            <a:ext cx="320039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t>HACIENDA LOS CEIBOS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96312"/>
            <a:ext cx="3154679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704264"/>
                </a:solidFill>
                <a:latin typeface="Aptos"/>
              </a:defRPr>
            </a:pPr>
            <a:r>
              <a:t>43.500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172968"/>
            <a:ext cx="31546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t>≈ 47,6 % del total cosechado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874519"/>
            <a:ext cx="7059168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1874519"/>
            <a:ext cx="82296" cy="2267712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2075688"/>
            <a:ext cx="655624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04264"/>
                </a:solidFill>
                <a:latin typeface="Aptos"/>
              </a:defRPr>
            </a:pPr>
            <a:r>
              <a:t>Interpretación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606039"/>
            <a:ext cx="6510528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Es la finca con mayor volumen. Su desempeño influye de forma importante en el resultado consolidado.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89120"/>
            <a:ext cx="110642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389120"/>
            <a:ext cx="82296" cy="1353312"/>
          </a:xfrm>
          <a:prstGeom prst="rect">
            <a:avLst/>
          </a:prstGeom>
          <a:solidFill>
            <a:srgbClr val="237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590288"/>
            <a:ext cx="1056131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7E62"/>
                </a:solidFill>
                <a:latin typeface="Aptos"/>
              </a:defRPr>
            </a:pPr>
            <a:r>
              <a:t>Recomendación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120640"/>
            <a:ext cx="10515600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Mantener seguimiento de capacidad, entregas y riesgos operativos en la finca de mayor peso.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t>El banano lidera el ranking de cultivos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716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t>Podio del periodo enero–septiembre de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t>HALLAZGO 3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 / 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3529584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50292" cy="18288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103120"/>
            <a:ext cx="298094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t>1.º  BANANO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96312"/>
            <a:ext cx="2935224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704264"/>
                </a:solidFill>
                <a:latin typeface="Aptos"/>
              </a:defRPr>
            </a:pPr>
            <a:r>
              <a:t>43.500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172968"/>
            <a:ext cx="293522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t>Mayor producción por cultivo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874519"/>
            <a:ext cx="3529584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98848" y="2057400"/>
            <a:ext cx="50292" cy="18288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103120"/>
            <a:ext cx="298094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t>2.º  MANGO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2496312"/>
            <a:ext cx="2935224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704264"/>
                </a:solidFill>
                <a:latin typeface="Aptos"/>
              </a:defRPr>
            </a:pPr>
            <a:r>
              <a:t>17.500 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3172968"/>
            <a:ext cx="293522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t>Segundo mayor volumen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874519"/>
            <a:ext cx="3529584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66175" y="2057400"/>
            <a:ext cx="50292" cy="18288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85632" y="2103120"/>
            <a:ext cx="298094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6777"/>
                </a:solidFill>
                <a:latin typeface="Aptos"/>
              </a:defRPr>
            </a:pPr>
            <a:r>
              <a:t>3.º  GUAYABA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496312"/>
            <a:ext cx="2935224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704264"/>
                </a:solidFill>
                <a:latin typeface="Aptos"/>
              </a:defRPr>
            </a:pPr>
            <a:r>
              <a:t>12.050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172968"/>
            <a:ext cx="293522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06777"/>
                </a:solidFill>
                <a:latin typeface="Aptos"/>
              </a:defRPr>
            </a:pPr>
            <a:r>
              <a:t>Tercer mayor volumen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43400"/>
            <a:ext cx="1106424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4343400"/>
            <a:ext cx="82296" cy="1399032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4544568"/>
            <a:ext cx="1056131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04264"/>
                </a:solidFill>
                <a:latin typeface="Aptos"/>
              </a:defRPr>
            </a:pPr>
            <a:r>
              <a:t>Recomendación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5074920"/>
            <a:ext cx="105156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Dar seguimiento a la concentración productiva por cultivo y contrastarla con entregas e ingresos.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rPr lang="es-MX" sz="2000" dirty="0"/>
              <a:t>Advertencia: El cumplimiento global del 105,92 % oculta diferencias entre fincas. Además, la incorporación de Hacienda Los Ceibos en 2026 debe considerarse al interpretar el crecimiento respecto al año anterior.</a:t>
            </a:r>
            <a:endParaRPr sz="2000" dirty="0"/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rPr dirty="0"/>
              <a:t>ADVERTENCIA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7</a:t>
            </a:r>
            <a:r>
              <a:rPr dirty="0"/>
              <a:t> / 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257800" cy="3383280"/>
          </a:xfrm>
          <a:prstGeom prst="roundRect">
            <a:avLst/>
          </a:prstGeom>
          <a:solidFill>
            <a:srgbClr val="E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4700" b="1">
                <a:solidFill>
                  <a:srgbClr val="704264"/>
                </a:solidFill>
                <a:latin typeface="Aptos"/>
              </a:defRPr>
            </a:pPr>
            <a:r>
              <a:t>105,92 %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1E31"/>
                </a:solidFill>
                <a:latin typeface="Aptos"/>
              </a:defRPr>
            </a:pPr>
            <a:r>
              <a:t>Resultado de toda la empresa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47088"/>
            <a:ext cx="559612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B83F53"/>
                </a:solidFill>
                <a:latin typeface="Aptos"/>
              </a:defRPr>
            </a:pPr>
            <a:r>
              <a:t>76,61 %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4747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1E31"/>
                </a:solidFill>
                <a:latin typeface="Aptos"/>
              </a:defRPr>
            </a:pPr>
            <a:r>
              <a:t>Resultado de Agrícola La Unión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59552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81E31"/>
                </a:solidFill>
                <a:latin typeface="Aptos"/>
              </a:defRPr>
            </a:pPr>
            <a:r>
              <a:t>Lectura correcta: revisar tanto el consolidado como el desglose por finca antes de tomar decisiones.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rPr lang="es-MX" dirty="0"/>
              <a:t>Recuperación de datos de producción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21207" y="13716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rPr lang="es-MX" dirty="0"/>
              <a:t>Identificación y corrección de registros con kilos faltantes para garantizar la precisión de los resultados.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t>BITÁCORA · CASO 1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8</a:t>
            </a:r>
            <a:r>
              <a:rPr dirty="0"/>
              <a:t>/ </a:t>
            </a:r>
            <a:r>
              <a:rPr lang="en-US" dirty="0"/>
              <a:t>1</a:t>
            </a:r>
            <a:r>
              <a:rPr dirty="0"/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5486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82296" cy="361188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6170" y="5693382"/>
            <a:ext cx="1834176" cy="2842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281928" y="1865376"/>
            <a:ext cx="5349240" cy="3611880"/>
          </a:xfrm>
          <a:prstGeom prst="roundRect">
            <a:avLst/>
          </a:prstGeom>
          <a:solidFill>
            <a:srgbClr val="F0EAF2"/>
          </a:solidFill>
          <a:ln>
            <a:solidFill>
              <a:srgbClr val="C9B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009749E2-21BF-C3F6-C73B-551BC549D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24" y="2503956"/>
            <a:ext cx="4815038" cy="2069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en-US" sz="1300" b="1" dirty="0" err="1">
                <a:latin typeface="Aptos"/>
              </a:rPr>
              <a:t>Hallazgo</a:t>
            </a:r>
            <a:r>
              <a:rPr lang="en-US" altLang="en-US" sz="1300" b="1" dirty="0">
                <a:latin typeface="Aptos"/>
              </a:rPr>
              <a:t>: </a:t>
            </a:r>
            <a:r>
              <a:rPr lang="en-US" altLang="en-US" sz="1300" dirty="0">
                <a:latin typeface="Aptos"/>
              </a:rPr>
              <a:t>Durante la </a:t>
            </a:r>
            <a:r>
              <a:rPr lang="en-US" altLang="en-US" sz="1300" dirty="0" err="1">
                <a:latin typeface="Aptos"/>
              </a:rPr>
              <a:t>consolidación</a:t>
            </a:r>
            <a:r>
              <a:rPr lang="en-US" altLang="en-US" sz="1300" dirty="0">
                <a:latin typeface="Aptos"/>
              </a:rPr>
              <a:t> de las </a:t>
            </a:r>
            <a:r>
              <a:rPr lang="en-US" altLang="en-US" sz="1300" dirty="0" err="1">
                <a:latin typeface="Aptos"/>
              </a:rPr>
              <a:t>cosechas</a:t>
            </a:r>
            <a:r>
              <a:rPr lang="en-US" altLang="en-US" sz="1300" dirty="0">
                <a:latin typeface="Aptos"/>
              </a:rPr>
              <a:t>, se </a:t>
            </a:r>
            <a:r>
              <a:rPr lang="en-US" altLang="en-US" sz="1300" dirty="0" err="1">
                <a:latin typeface="Aptos"/>
              </a:rPr>
              <a:t>identificaron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registros</a:t>
            </a:r>
            <a:r>
              <a:rPr lang="en-US" altLang="en-US" sz="1300" dirty="0">
                <a:latin typeface="Aptos"/>
              </a:rPr>
              <a:t> con </a:t>
            </a:r>
            <a:r>
              <a:rPr lang="en-US" altLang="en-US" sz="1300" dirty="0" err="1">
                <a:latin typeface="Aptos"/>
              </a:rPr>
              <a:t>valores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nulos</a:t>
            </a:r>
            <a:r>
              <a:rPr lang="en-US" altLang="en-US" sz="1300" dirty="0">
                <a:latin typeface="Aptos"/>
              </a:rPr>
              <a:t> o cero </a:t>
            </a:r>
            <a:r>
              <a:rPr lang="en-US" altLang="en-US" sz="1300" dirty="0" err="1">
                <a:latin typeface="Aptos"/>
              </a:rPr>
              <a:t>en</a:t>
            </a:r>
            <a:r>
              <a:rPr lang="en-US" altLang="en-US" sz="1300" dirty="0">
                <a:latin typeface="Aptos"/>
              </a:rPr>
              <a:t> la </a:t>
            </a:r>
            <a:r>
              <a:rPr lang="en-US" altLang="en-US" sz="1300" dirty="0" err="1">
                <a:latin typeface="Aptos"/>
              </a:rPr>
              <a:t>columna</a:t>
            </a:r>
            <a:r>
              <a:rPr lang="en-US" altLang="en-US" sz="1300" dirty="0">
                <a:latin typeface="Aptos"/>
              </a:rPr>
              <a:t> kg.</a:t>
            </a:r>
          </a:p>
          <a:p>
            <a:pPr>
              <a:spcAft>
                <a:spcPts val="700"/>
              </a:spcAft>
            </a:pPr>
            <a:r>
              <a:rPr lang="en-US" altLang="en-US" sz="1300" b="1" dirty="0" err="1">
                <a:latin typeface="Aptos"/>
              </a:rPr>
              <a:t>Detección</a:t>
            </a:r>
            <a:r>
              <a:rPr lang="en-US" altLang="en-US" sz="1300" b="1" dirty="0">
                <a:latin typeface="Aptos"/>
              </a:rPr>
              <a:t>:</a:t>
            </a:r>
            <a:r>
              <a:rPr lang="en-US" altLang="en-US" sz="1300" dirty="0">
                <a:latin typeface="Aptos"/>
              </a:rPr>
              <a:t> Las </a:t>
            </a:r>
            <a:r>
              <a:rPr lang="en-US" altLang="en-US" sz="1300" dirty="0" err="1">
                <a:latin typeface="Aptos"/>
              </a:rPr>
              <a:t>cosechas</a:t>
            </a:r>
            <a:r>
              <a:rPr lang="en-US" altLang="en-US" sz="1300" dirty="0">
                <a:latin typeface="Aptos"/>
              </a:rPr>
              <a:t> 16 y 17 </a:t>
            </a:r>
            <a:r>
              <a:rPr lang="en-US" altLang="en-US" sz="1300" dirty="0" err="1">
                <a:latin typeface="Aptos"/>
              </a:rPr>
              <a:t>tenían</a:t>
            </a:r>
            <a:r>
              <a:rPr lang="en-US" altLang="en-US" sz="1300" dirty="0">
                <a:latin typeface="Aptos"/>
              </a:rPr>
              <a:t> 2.200 kg y 1.250 kg </a:t>
            </a:r>
            <a:r>
              <a:rPr lang="en-US" altLang="en-US" sz="1300" dirty="0" err="1">
                <a:latin typeface="Aptos"/>
              </a:rPr>
              <a:t>registrados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en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kg_neto</a:t>
            </a:r>
            <a:r>
              <a:rPr lang="en-US" altLang="en-US" sz="1300" dirty="0">
                <a:latin typeface="Aptos"/>
              </a:rPr>
              <a:t>, </a:t>
            </a:r>
            <a:r>
              <a:rPr lang="en-US" altLang="en-US" sz="1300" dirty="0" err="1">
                <a:latin typeface="Aptos"/>
              </a:rPr>
              <a:t>pero</a:t>
            </a:r>
            <a:r>
              <a:rPr lang="en-US" altLang="en-US" sz="1300" dirty="0">
                <a:latin typeface="Aptos"/>
              </a:rPr>
              <a:t> no se </a:t>
            </a:r>
            <a:r>
              <a:rPr lang="en-US" altLang="en-US" sz="1300" dirty="0" err="1">
                <a:latin typeface="Aptos"/>
              </a:rPr>
              <a:t>reflejaban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correctamente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en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el</a:t>
            </a:r>
            <a:r>
              <a:rPr lang="en-US" altLang="en-US" sz="1300" dirty="0">
                <a:latin typeface="Aptos"/>
              </a:rPr>
              <a:t> total.</a:t>
            </a:r>
          </a:p>
          <a:p>
            <a:pPr>
              <a:spcAft>
                <a:spcPts val="700"/>
              </a:spcAft>
            </a:pPr>
            <a:r>
              <a:rPr lang="en-US" altLang="en-US" sz="1300" b="1" dirty="0" err="1">
                <a:latin typeface="Aptos"/>
              </a:rPr>
              <a:t>Corrección</a:t>
            </a:r>
            <a:r>
              <a:rPr lang="en-US" altLang="en-US" sz="1300" b="1" dirty="0">
                <a:latin typeface="Aptos"/>
              </a:rPr>
              <a:t>: </a:t>
            </a:r>
            <a:r>
              <a:rPr lang="en-US" altLang="en-US" sz="1300" dirty="0">
                <a:latin typeface="Aptos"/>
              </a:rPr>
              <a:t>Se </a:t>
            </a:r>
            <a:r>
              <a:rPr lang="en-US" altLang="en-US" sz="1300" dirty="0" err="1">
                <a:latin typeface="Aptos"/>
              </a:rPr>
              <a:t>ajustó</a:t>
            </a:r>
            <a:r>
              <a:rPr lang="en-US" altLang="en-US" sz="1300" dirty="0">
                <a:latin typeface="Aptos"/>
              </a:rPr>
              <a:t> la </a:t>
            </a:r>
            <a:r>
              <a:rPr lang="en-US" altLang="en-US" sz="1300" dirty="0" err="1">
                <a:latin typeface="Aptos"/>
              </a:rPr>
              <a:t>transformación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en</a:t>
            </a:r>
            <a:r>
              <a:rPr lang="en-US" altLang="en-US" sz="1300" dirty="0">
                <a:latin typeface="Aptos"/>
              </a:rPr>
              <a:t> Power Query para </a:t>
            </a:r>
            <a:r>
              <a:rPr lang="en-US" altLang="en-US" sz="1300" dirty="0" err="1">
                <a:latin typeface="Aptos"/>
              </a:rPr>
              <a:t>recuperar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los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valores</a:t>
            </a:r>
            <a:r>
              <a:rPr lang="en-US" altLang="en-US" sz="1300" dirty="0">
                <a:latin typeface="Aptos"/>
              </a:rPr>
              <a:t> de </a:t>
            </a:r>
            <a:r>
              <a:rPr lang="en-US" altLang="en-US" sz="1300" dirty="0" err="1">
                <a:latin typeface="Aptos"/>
              </a:rPr>
              <a:t>producción</a:t>
            </a:r>
            <a:r>
              <a:rPr lang="en-US" altLang="en-US" sz="1300" dirty="0">
                <a:latin typeface="Aptos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en-US" altLang="en-US" sz="1300" b="1" dirty="0" err="1">
                <a:latin typeface="Aptos"/>
              </a:rPr>
              <a:t>Resultado</a:t>
            </a:r>
            <a:r>
              <a:rPr lang="en-US" altLang="en-US" sz="1300" b="1" dirty="0">
                <a:latin typeface="Aptos"/>
              </a:rPr>
              <a:t>: </a:t>
            </a:r>
            <a:r>
              <a:rPr lang="en-US" altLang="en-US" sz="1300" dirty="0">
                <a:latin typeface="Aptos"/>
              </a:rPr>
              <a:t>Se </a:t>
            </a:r>
            <a:r>
              <a:rPr lang="en-US" altLang="en-US" sz="1300" dirty="0" err="1">
                <a:latin typeface="Aptos"/>
              </a:rPr>
              <a:t>recuperaron</a:t>
            </a:r>
            <a:r>
              <a:rPr lang="en-US" altLang="en-US" sz="1300" dirty="0">
                <a:latin typeface="Aptos"/>
              </a:rPr>
              <a:t> 3.450 kg y </a:t>
            </a:r>
            <a:r>
              <a:rPr lang="en-US" altLang="en-US" sz="1300" dirty="0" err="1">
                <a:latin typeface="Aptos"/>
              </a:rPr>
              <a:t>el</a:t>
            </a:r>
            <a:r>
              <a:rPr lang="en-US" altLang="en-US" sz="1300" dirty="0">
                <a:latin typeface="Aptos"/>
              </a:rPr>
              <a:t> total </a:t>
            </a:r>
            <a:r>
              <a:rPr lang="en-US" altLang="en-US" sz="1300" dirty="0" err="1">
                <a:latin typeface="Aptos"/>
              </a:rPr>
              <a:t>histórico</a:t>
            </a:r>
            <a:r>
              <a:rPr lang="en-US" altLang="en-US" sz="1300" dirty="0">
                <a:latin typeface="Aptos"/>
              </a:rPr>
              <a:t> </a:t>
            </a:r>
            <a:r>
              <a:rPr lang="en-US" altLang="en-US" sz="1300" dirty="0" err="1">
                <a:latin typeface="Aptos"/>
              </a:rPr>
              <a:t>pasó</a:t>
            </a:r>
            <a:r>
              <a:rPr lang="en-US" altLang="en-US" sz="1300" dirty="0">
                <a:latin typeface="Aptos"/>
              </a:rPr>
              <a:t> de 133.150 a 136.600 kg.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F04ED88-263B-BD42-FC92-0BF5BA8A5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846" y="2331719"/>
            <a:ext cx="5228099" cy="2773025"/>
          </a:xfrm>
          <a:prstGeom prst="rect">
            <a:avLst/>
          </a:prstGeom>
          <a:effectLst>
            <a:softEdge rad="508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rPr lang="es-MX" dirty="0"/>
              <a:t>Corrección de inconsistencias en las fechas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21207" y="137160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rPr lang="es-MX" dirty="0"/>
              <a:t>Normalización de fechas de la báscula digital para asegurar la correcta asignación de las cosechas al período correspondiente.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t>BITÁCORA · CASO 2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9</a:t>
            </a:r>
            <a:r>
              <a:rPr dirty="0"/>
              <a:t> / 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5559552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82296" cy="379476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243006"/>
            <a:ext cx="5056632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04264"/>
                </a:solidFill>
                <a:latin typeface="Aptos"/>
              </a:defRPr>
            </a:pPr>
            <a:r>
              <a:rPr dirty="0" err="1"/>
              <a:t>Problema</a:t>
            </a:r>
            <a:r>
              <a:rPr dirty="0"/>
              <a:t> y </a:t>
            </a:r>
            <a:r>
              <a:rPr dirty="0" err="1"/>
              <a:t>diagnóstico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355080" y="1865376"/>
            <a:ext cx="5276088" cy="3794760"/>
          </a:xfrm>
          <a:prstGeom prst="roundRect">
            <a:avLst/>
          </a:prstGeom>
          <a:solidFill>
            <a:srgbClr val="F0EAF2"/>
          </a:solidFill>
          <a:ln>
            <a:solidFill>
              <a:srgbClr val="C9B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DAD085CD-17DE-33BE-CFD4-2C0F2FD4C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00" y="2762152"/>
            <a:ext cx="5292032" cy="22082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700"/>
              </a:spcAft>
            </a:pPr>
            <a:r>
              <a:rPr lang="en-US" altLang="en-US" sz="1400" b="1" dirty="0" err="1">
                <a:latin typeface="Aptos"/>
              </a:rPr>
              <a:t>Hallazgo</a:t>
            </a:r>
            <a:r>
              <a:rPr lang="en-US" altLang="en-US" sz="1400" b="1" dirty="0">
                <a:latin typeface="Aptos"/>
              </a:rPr>
              <a:t>: </a:t>
            </a:r>
            <a:r>
              <a:rPr lang="en-US" altLang="en-US" sz="1400" dirty="0">
                <a:latin typeface="Aptos"/>
              </a:rPr>
              <a:t>Cinco </a:t>
            </a:r>
            <a:r>
              <a:rPr lang="en-US" altLang="en-US" sz="1400" dirty="0" err="1">
                <a:latin typeface="Aptos"/>
              </a:rPr>
              <a:t>fechas</a:t>
            </a:r>
            <a:r>
              <a:rPr lang="en-US" altLang="en-US" sz="1400" dirty="0">
                <a:latin typeface="Aptos"/>
              </a:rPr>
              <a:t> de la </a:t>
            </a:r>
            <a:r>
              <a:rPr lang="en-US" altLang="en-US" sz="1400" dirty="0" err="1">
                <a:latin typeface="Aptos"/>
              </a:rPr>
              <a:t>báscula</a:t>
            </a:r>
            <a:r>
              <a:rPr lang="en-US" altLang="en-US" sz="1400" dirty="0">
                <a:latin typeface="Aptos"/>
              </a:rPr>
              <a:t> digital </a:t>
            </a:r>
            <a:r>
              <a:rPr lang="en-US" altLang="en-US" sz="1400" dirty="0" err="1">
                <a:latin typeface="Aptos"/>
              </a:rPr>
              <a:t>generaban</a:t>
            </a:r>
            <a:r>
              <a:rPr lang="en-US" altLang="en-US" sz="1400" dirty="0">
                <a:latin typeface="Aptos"/>
              </a:rPr>
              <a:t> </a:t>
            </a:r>
            <a:r>
              <a:rPr lang="en-US" altLang="en-US" sz="1400" dirty="0" err="1">
                <a:latin typeface="Aptos"/>
              </a:rPr>
              <a:t>errores</a:t>
            </a:r>
            <a:r>
              <a:rPr lang="en-US" altLang="en-US" sz="1400" dirty="0">
                <a:latin typeface="Aptos"/>
              </a:rPr>
              <a:t> al </a:t>
            </a:r>
            <a:r>
              <a:rPr lang="en-US" altLang="en-US" sz="1400" dirty="0" err="1">
                <a:latin typeface="Aptos"/>
              </a:rPr>
              <a:t>interpretarse</a:t>
            </a:r>
            <a:r>
              <a:rPr lang="en-US" altLang="en-US" sz="1400" dirty="0">
                <a:latin typeface="Aptos"/>
              </a:rPr>
              <a:t> con </a:t>
            </a:r>
            <a:r>
              <a:rPr lang="en-US" altLang="en-US" sz="1400" dirty="0" err="1">
                <a:latin typeface="Aptos"/>
              </a:rPr>
              <a:t>una</a:t>
            </a:r>
            <a:r>
              <a:rPr lang="en-US" altLang="en-US" sz="1400" dirty="0">
                <a:latin typeface="Aptos"/>
              </a:rPr>
              <a:t> </a:t>
            </a:r>
            <a:r>
              <a:rPr lang="en-US" altLang="en-US" sz="1400" dirty="0" err="1">
                <a:latin typeface="Aptos"/>
              </a:rPr>
              <a:t>configuración</a:t>
            </a:r>
            <a:r>
              <a:rPr lang="en-US" altLang="en-US" sz="1400" dirty="0">
                <a:latin typeface="Aptos"/>
              </a:rPr>
              <a:t> regional </a:t>
            </a:r>
            <a:r>
              <a:rPr lang="en-US" altLang="en-US" sz="1400" dirty="0" err="1">
                <a:latin typeface="Aptos"/>
              </a:rPr>
              <a:t>diferente</a:t>
            </a:r>
            <a:r>
              <a:rPr lang="en-US" altLang="en-US" sz="1400" dirty="0">
                <a:latin typeface="Aptos"/>
              </a:rPr>
              <a:t>.</a:t>
            </a:r>
          </a:p>
          <a:p>
            <a:pPr algn="just">
              <a:spcAft>
                <a:spcPts val="700"/>
              </a:spcAft>
            </a:pPr>
            <a:r>
              <a:rPr lang="en-US" altLang="en-US" sz="1400" b="1" dirty="0" err="1">
                <a:latin typeface="Aptos"/>
              </a:rPr>
              <a:t>Detección</a:t>
            </a:r>
            <a:r>
              <a:rPr lang="en-US" altLang="en-US" sz="1400" b="1" dirty="0">
                <a:latin typeface="Aptos"/>
              </a:rPr>
              <a:t>:</a:t>
            </a:r>
            <a:r>
              <a:rPr lang="en-US" altLang="en-US" sz="1400" dirty="0">
                <a:latin typeface="Aptos"/>
              </a:rPr>
              <a:t> Power Query </a:t>
            </a:r>
            <a:r>
              <a:rPr lang="en-US" altLang="en-US" sz="1400" dirty="0" err="1">
                <a:latin typeface="Aptos"/>
              </a:rPr>
              <a:t>identificó</a:t>
            </a:r>
            <a:r>
              <a:rPr lang="en-US" altLang="en-US" sz="1400" dirty="0">
                <a:latin typeface="Aptos"/>
              </a:rPr>
              <a:t> </a:t>
            </a:r>
            <a:r>
              <a:rPr lang="en-US" altLang="en-US" sz="1400" dirty="0" err="1">
                <a:latin typeface="Aptos"/>
              </a:rPr>
              <a:t>errores</a:t>
            </a:r>
            <a:r>
              <a:rPr lang="en-US" altLang="en-US" sz="1400" dirty="0">
                <a:latin typeface="Aptos"/>
              </a:rPr>
              <a:t> </a:t>
            </a:r>
            <a:r>
              <a:rPr lang="en-US" altLang="en-US" sz="1400" dirty="0" err="1">
                <a:latin typeface="Aptos"/>
              </a:rPr>
              <a:t>durante</a:t>
            </a:r>
            <a:r>
              <a:rPr lang="en-US" altLang="en-US" sz="1400" dirty="0">
                <a:latin typeface="Aptos"/>
              </a:rPr>
              <a:t> la </a:t>
            </a:r>
            <a:r>
              <a:rPr lang="en-US" altLang="en-US" sz="1400" dirty="0" err="1">
                <a:latin typeface="Aptos"/>
              </a:rPr>
              <a:t>conversión</a:t>
            </a:r>
            <a:r>
              <a:rPr lang="en-US" altLang="en-US" sz="1400" dirty="0">
                <a:latin typeface="Aptos"/>
              </a:rPr>
              <a:t> de la </a:t>
            </a:r>
            <a:r>
              <a:rPr lang="en-US" altLang="en-US" sz="1400" dirty="0" err="1">
                <a:latin typeface="Aptos"/>
              </a:rPr>
              <a:t>columna</a:t>
            </a:r>
            <a:r>
              <a:rPr lang="en-US" altLang="en-US" sz="1400" dirty="0">
                <a:latin typeface="Aptos"/>
              </a:rPr>
              <a:t> de </a:t>
            </a:r>
            <a:r>
              <a:rPr lang="en-US" altLang="en-US" sz="1400" dirty="0" err="1">
                <a:latin typeface="Aptos"/>
              </a:rPr>
              <a:t>fechas</a:t>
            </a:r>
            <a:r>
              <a:rPr lang="en-US" altLang="en-US" sz="1400" dirty="0">
                <a:latin typeface="Aptos"/>
              </a:rPr>
              <a:t>.</a:t>
            </a:r>
          </a:p>
          <a:p>
            <a:pPr algn="just">
              <a:spcAft>
                <a:spcPts val="700"/>
              </a:spcAft>
            </a:pPr>
            <a:r>
              <a:rPr lang="en-US" altLang="en-US" sz="1400" b="1" dirty="0" err="1">
                <a:latin typeface="Aptos"/>
              </a:rPr>
              <a:t>Corrección</a:t>
            </a:r>
            <a:r>
              <a:rPr lang="en-US" altLang="en-US" sz="1400" b="1" dirty="0">
                <a:latin typeface="Aptos"/>
              </a:rPr>
              <a:t>:</a:t>
            </a:r>
            <a:r>
              <a:rPr lang="en-US" altLang="en-US" sz="1400" dirty="0">
                <a:latin typeface="Aptos"/>
              </a:rPr>
              <a:t> Se </a:t>
            </a:r>
            <a:r>
              <a:rPr lang="en-US" altLang="en-US" sz="1400" dirty="0" err="1">
                <a:latin typeface="Aptos"/>
              </a:rPr>
              <a:t>ajusto</a:t>
            </a:r>
            <a:r>
              <a:rPr lang="en-US" altLang="en-US" sz="1400" dirty="0">
                <a:latin typeface="Aptos"/>
              </a:rPr>
              <a:t> la </a:t>
            </a:r>
            <a:r>
              <a:rPr lang="en-US" altLang="en-US" sz="1400" dirty="0" err="1">
                <a:latin typeface="Aptos"/>
              </a:rPr>
              <a:t>interpretacion</a:t>
            </a:r>
            <a:r>
              <a:rPr lang="en-US" altLang="en-US" sz="1400" dirty="0">
                <a:latin typeface="Aptos"/>
              </a:rPr>
              <a:t> de las </a:t>
            </a:r>
            <a:r>
              <a:rPr lang="en-US" altLang="en-US" sz="1400" dirty="0" err="1">
                <a:latin typeface="Aptos"/>
              </a:rPr>
              <a:t>fechas</a:t>
            </a:r>
            <a:r>
              <a:rPr lang="en-US" altLang="en-US" sz="1400" dirty="0">
                <a:latin typeface="Aptos"/>
              </a:rPr>
              <a:t> de la bascule digital </a:t>
            </a:r>
            <a:r>
              <a:rPr lang="en-US" altLang="en-US" sz="1400" dirty="0" err="1">
                <a:latin typeface="Aptos"/>
              </a:rPr>
              <a:t>mediante</a:t>
            </a:r>
            <a:r>
              <a:rPr lang="en-US" altLang="en-US" sz="1400" dirty="0">
                <a:latin typeface="Aptos"/>
              </a:rPr>
              <a:t> la </a:t>
            </a:r>
            <a:r>
              <a:rPr lang="en-US" altLang="en-US" sz="1400" dirty="0" err="1">
                <a:latin typeface="Aptos"/>
              </a:rPr>
              <a:t>configuracion</a:t>
            </a:r>
            <a:r>
              <a:rPr lang="en-US" altLang="en-US" sz="1400" dirty="0">
                <a:latin typeface="Aptos"/>
              </a:rPr>
              <a:t> regional Ingles (</a:t>
            </a:r>
            <a:r>
              <a:rPr lang="en-US" altLang="en-US" sz="1400" dirty="0" err="1">
                <a:latin typeface="Aptos"/>
              </a:rPr>
              <a:t>Estados</a:t>
            </a:r>
            <a:r>
              <a:rPr lang="en-US" altLang="en-US" sz="1400" dirty="0">
                <a:latin typeface="Aptos"/>
              </a:rPr>
              <a:t> Unidos), </a:t>
            </a:r>
            <a:r>
              <a:rPr lang="en-US" altLang="en-US" sz="1400" dirty="0" err="1">
                <a:latin typeface="Aptos"/>
              </a:rPr>
              <a:t>incluyendo</a:t>
            </a:r>
            <a:r>
              <a:rPr lang="en-US" altLang="en-US" sz="1400" dirty="0">
                <a:latin typeface="Aptos"/>
              </a:rPr>
              <a:t> la </a:t>
            </a:r>
            <a:r>
              <a:rPr lang="en-US" altLang="en-US" sz="1400" dirty="0" err="1">
                <a:latin typeface="Aptos"/>
              </a:rPr>
              <a:t>columna</a:t>
            </a:r>
            <a:r>
              <a:rPr lang="en-US" altLang="en-US" sz="1400" dirty="0">
                <a:latin typeface="Aptos"/>
              </a:rPr>
              <a:t> </a:t>
            </a:r>
            <a:r>
              <a:rPr lang="en-US" altLang="en-US" sz="1400" dirty="0" err="1">
                <a:latin typeface="Aptos"/>
              </a:rPr>
              <a:t>fecha_entrega</a:t>
            </a:r>
            <a:r>
              <a:rPr lang="en-US" altLang="en-US" sz="1400" dirty="0">
                <a:latin typeface="Aptos"/>
              </a:rPr>
              <a:t>.</a:t>
            </a:r>
          </a:p>
          <a:p>
            <a:pPr algn="just">
              <a:spcAft>
                <a:spcPts val="700"/>
              </a:spcAft>
            </a:pPr>
            <a:r>
              <a:rPr lang="en-US" altLang="en-US" sz="1400" b="1" dirty="0" err="1">
                <a:latin typeface="Aptos"/>
              </a:rPr>
              <a:t>Resultado</a:t>
            </a:r>
            <a:r>
              <a:rPr lang="en-US" altLang="en-US" sz="1400" b="1" dirty="0">
                <a:latin typeface="Aptos"/>
              </a:rPr>
              <a:t>:</a:t>
            </a:r>
            <a:r>
              <a:rPr lang="en-US" altLang="en-US" sz="1400" dirty="0">
                <a:latin typeface="Aptos"/>
              </a:rPr>
              <a:t> Se </a:t>
            </a:r>
            <a:r>
              <a:rPr lang="en-US" altLang="en-US" sz="1400" dirty="0" err="1">
                <a:latin typeface="Aptos"/>
              </a:rPr>
              <a:t>corrigieron</a:t>
            </a:r>
            <a:r>
              <a:rPr lang="en-US" altLang="en-US" sz="1400" dirty="0">
                <a:latin typeface="Aptos"/>
              </a:rPr>
              <a:t> las </a:t>
            </a:r>
            <a:r>
              <a:rPr lang="en-US" altLang="en-US" sz="1400" dirty="0" err="1">
                <a:latin typeface="Aptos"/>
              </a:rPr>
              <a:t>fechas</a:t>
            </a:r>
            <a:r>
              <a:rPr lang="en-US" altLang="en-US" sz="1400" dirty="0">
                <a:latin typeface="Aptos"/>
              </a:rPr>
              <a:t> y se </a:t>
            </a:r>
            <a:r>
              <a:rPr lang="en-US" altLang="en-US" sz="1400" dirty="0" err="1">
                <a:latin typeface="Aptos"/>
              </a:rPr>
              <a:t>validó</a:t>
            </a:r>
            <a:r>
              <a:rPr lang="en-US" altLang="en-US" sz="1400" dirty="0">
                <a:latin typeface="Aptos"/>
              </a:rPr>
              <a:t> </a:t>
            </a:r>
            <a:r>
              <a:rPr lang="en-US" altLang="en-US" sz="1400" dirty="0" err="1">
                <a:latin typeface="Aptos"/>
              </a:rPr>
              <a:t>el</a:t>
            </a:r>
            <a:r>
              <a:rPr lang="en-US" altLang="en-US" sz="1400" dirty="0">
                <a:latin typeface="Aptos"/>
              </a:rPr>
              <a:t> </a:t>
            </a:r>
            <a:r>
              <a:rPr lang="en-US" altLang="en-US" sz="1400" dirty="0" err="1">
                <a:latin typeface="Aptos"/>
              </a:rPr>
              <a:t>cierre</a:t>
            </a:r>
            <a:r>
              <a:rPr lang="en-US" altLang="en-US" sz="1400" dirty="0">
                <a:latin typeface="Aptos"/>
              </a:rPr>
              <a:t> de </a:t>
            </a:r>
            <a:r>
              <a:rPr lang="en-US" altLang="en-US" sz="1400" dirty="0" err="1">
                <a:latin typeface="Aptos"/>
              </a:rPr>
              <a:t>septiembre</a:t>
            </a:r>
            <a:r>
              <a:rPr lang="en-US" altLang="en-US" sz="1400" dirty="0">
                <a:latin typeface="Aptos"/>
              </a:rPr>
              <a:t> de 2026 con 4 </a:t>
            </a:r>
            <a:r>
              <a:rPr lang="en-US" altLang="en-US" sz="1400" dirty="0" err="1">
                <a:latin typeface="Aptos"/>
              </a:rPr>
              <a:t>cosechas</a:t>
            </a:r>
            <a:r>
              <a:rPr lang="en-US" altLang="en-US" sz="1400" dirty="0">
                <a:latin typeface="Aptos"/>
              </a:rPr>
              <a:t> y 10.500 kg.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A9C86802-D2AB-0EDF-FB1D-B8874CBA8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582" y="2439534"/>
            <a:ext cx="5183364" cy="2543947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42A5E311-514B-D3B6-F0B5-CF8D72B34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ajustó la interpretación de las fechas de la báscula digital mediante la configuración regional Inglés (Estados Unidos), incluyendo la columna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fecha_entrega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t>AGRODB  /  CIERRE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5568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81E31"/>
                </a:solidFill>
                <a:latin typeface="Aptos"/>
              </a:defRPr>
            </a:pPr>
            <a:r>
              <a:t>Por qué podemos confiar en el tablero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716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06777"/>
                </a:solidFill>
                <a:latin typeface="Aptos"/>
              </a:defRPr>
            </a:pPr>
            <a:r>
              <a:t>Validaciones de datos, conciliación de metas y acceso restringido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E4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06777"/>
                </a:solidFill>
                <a:latin typeface="Aptos"/>
              </a:defRPr>
            </a:pPr>
            <a:r>
              <a:t>AUDITORÍA  •  AGRODB INTEGRATOR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704264"/>
                </a:solidFill>
                <a:latin typeface="Aptos"/>
              </a:defRPr>
            </a:pPr>
            <a:r>
              <a:rPr lang="en-US" dirty="0"/>
              <a:t>10</a:t>
            </a:r>
            <a:r>
              <a:rPr dirty="0"/>
              <a:t>/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66928" y="1856231"/>
            <a:ext cx="6510528" cy="4251960"/>
          </a:xfrm>
          <a:prstGeom prst="roundRect">
            <a:avLst/>
          </a:prstGeom>
          <a:solidFill>
            <a:srgbClr val="F0EAF2"/>
          </a:solidFill>
          <a:ln>
            <a:solidFill>
              <a:srgbClr val="C9B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96912" y="1856231"/>
            <a:ext cx="432511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96912" y="1856231"/>
            <a:ext cx="82296" cy="1234440"/>
          </a:xfrm>
          <a:prstGeom prst="rect">
            <a:avLst/>
          </a:prstGeom>
          <a:solidFill>
            <a:srgbClr val="237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71232" y="2057400"/>
            <a:ext cx="3822192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7E62"/>
                </a:solidFill>
                <a:latin typeface="Aptos"/>
              </a:defRPr>
            </a:pPr>
            <a:r>
              <a:t>Calidad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2" y="2587752"/>
            <a:ext cx="3776472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0 fechas vacías, 0 kilos inválidos y 0 fincas sin asignar.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3255264"/>
            <a:ext cx="432511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96912" y="3255264"/>
            <a:ext cx="82296" cy="1234440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71232" y="3456432"/>
            <a:ext cx="3822192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04264"/>
                </a:solidFill>
                <a:latin typeface="Aptos"/>
              </a:defRPr>
            </a:pPr>
            <a:r>
              <a:t>Conciliación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3986784"/>
            <a:ext cx="3776472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91.300 kg − 86.200 kg = +5.100 kg.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912" y="4654296"/>
            <a:ext cx="4325112" cy="1453896"/>
          </a:xfrm>
          <a:prstGeom prst="roundRect">
            <a:avLst/>
          </a:prstGeom>
          <a:solidFill>
            <a:srgbClr val="FFFFFF"/>
          </a:solidFill>
          <a:ln>
            <a:solidFill>
              <a:srgbClr val="E4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96912" y="4654296"/>
            <a:ext cx="82296" cy="1453896"/>
          </a:xfrm>
          <a:prstGeom prst="rect">
            <a:avLst/>
          </a:prstGeom>
          <a:solidFill>
            <a:srgbClr val="704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71232" y="4855464"/>
            <a:ext cx="3822192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04264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5385816"/>
            <a:ext cx="3776472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1E31"/>
                </a:solidFill>
                <a:latin typeface="Aptos"/>
              </a:defRPr>
            </a:pPr>
            <a:r>
              <a:t>RLS comprobado: regional.sur ve 2 fincas; usuarios sin asignación, ninguna.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35A1698-39E9-4F75-A808-04F514F17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22" y="2265778"/>
            <a:ext cx="6263978" cy="3490132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B762DA2-7DE7-4E24-AB70-C9F6583CB68F}">
  <we:reference id="wa104380050" version="3.8.0.0" store="es-ES" storeType="OMEX"/>
  <we:alternateReferences>
    <we:reference id="wa104380050" version="3.8.0.0" store="wa10438005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885</Words>
  <Application>Microsoft Office PowerPoint</Application>
  <PresentationFormat>Panorámica</PresentationFormat>
  <Paragraphs>129</Paragraphs>
  <Slides>10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Arial Unicode MS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Axel Cortez Cardozo</cp:lastModifiedBy>
  <cp:revision>4</cp:revision>
  <dcterms:created xsi:type="dcterms:W3CDTF">2013-01-27T09:14:16Z</dcterms:created>
  <dcterms:modified xsi:type="dcterms:W3CDTF">2026-10-11T02:46:18Z</dcterms:modified>
  <cp:category/>
</cp:coreProperties>
</file>