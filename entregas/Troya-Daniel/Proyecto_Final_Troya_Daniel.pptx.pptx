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Plus Jakarta Sans"/>
      <p:bold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860577"/>
            <a:ext cx="1066800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4860577"/>
            <a:ext cx="10668000" cy="9525"/>
          </a:xfrm>
          <a:prstGeom prst="rect">
            <a:avLst/>
          </a:prstGeom>
          <a:solidFill>
            <a:srgbClr val="1E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2000" y="1930747"/>
            <a:ext cx="9701212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8FAFC"/>
                </a:solidFill>
                <a:latin typeface="Plus Jakarta Sans"/>
              </a:rPr>
              <a:t>Cierre de Cosechas y Auditoría de Metas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50" y="1559272"/>
            <a:ext cx="506015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0B981"/>
                </a:solidFill>
                <a:latin typeface="Plus Jakarta Sans"/>
              </a:rPr>
              <a:t>INFORME EJECUTIVO · CIERRE AGRÍCOLA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298477"/>
            <a:ext cx="5655468" cy="990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7800"/>
              </a:lnSpc>
            </a:pPr>
            <a:r>
              <a:rPr sz="7800" b="1" i="0" u="none">
                <a:solidFill>
                  <a:srgbClr val="34D399"/>
                </a:solidFill>
                <a:latin typeface="Plus Jakarta Sans"/>
              </a:rPr>
              <a:t>105,92 %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5098702"/>
            <a:ext cx="20835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CBD5E1"/>
                </a:solidFill>
                <a:latin typeface="Plus Jakarta Sans"/>
              </a:rPr>
              <a:t>Expositor: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Daniel Troya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33675" y="5098702"/>
            <a:ext cx="308371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CBD5E1"/>
                </a:solidFill>
                <a:latin typeface="Plus Jakarta Sans"/>
              </a:rPr>
              <a:t>Ingresos brutos: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$ 34 750,00 USD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05450" y="5098702"/>
            <a:ext cx="26550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CBD5E1"/>
                </a:solidFill>
                <a:latin typeface="Plus Jakarta Sans"/>
              </a:rPr>
              <a:t>Variación vs 2025: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+128,25 %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14975" y="3955702"/>
            <a:ext cx="6036468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91 300 kg cosechados vs 86 200 kg en meta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14975" y="4298602"/>
            <a:ext cx="603646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94A3B8"/>
                </a:solidFill>
                <a:latin typeface="Plus Jakarta Sans"/>
              </a:rPr>
              <a:t>Periodo auditado: Enero – Septiembre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104905" y="1933575"/>
            <a:ext cx="4477494" cy="1190625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104905" y="3276600"/>
            <a:ext cx="4477494" cy="1190625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04905" y="4619625"/>
            <a:ext cx="4477494" cy="1190625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85912"/>
            <a:ext cx="6190505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725025" y="933450"/>
            <a:ext cx="2321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64748B"/>
                </a:solidFill>
                <a:latin typeface="Plus Jakarta Sans"/>
              </a:rPr>
              <a:t>Vista Ejecutiva en Power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74533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ARQUITECTURA DE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5800"/>
            <a:ext cx="7825978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Tablero Operativo: Página Resumen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43030" y="2171700"/>
            <a:ext cx="484896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KPI de Tendencia Mensual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43030" y="2486025"/>
            <a:ext cx="4096494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10 500 kg en septiembre contra 8 600 kg de cuota mensual (+22,09 %).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43030" y="3514725"/>
            <a:ext cx="484896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Semáforo Automatizado por Finca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43030" y="3829050"/>
            <a:ext cx="4096494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Umbral absoluto: verde para cumplimiento ≥ 100 % y rojo en déficit.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43030" y="4857750"/>
            <a:ext cx="484896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Filtro de Gobernanza RLS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43030" y="5172075"/>
            <a:ext cx="4096494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Aislamiento dinámico por credencial corporativa en tiempo real.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286427C5-5C3E-178F-BCD1-AF7B9D298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437" y="1820017"/>
            <a:ext cx="5742829" cy="40180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43162"/>
            <a:ext cx="4782294" cy="2933700"/>
          </a:xfrm>
          <a:prstGeom prst="roundRect">
            <a:avLst>
              <a:gd name="adj" fmla="val 5194"/>
            </a:avLst>
          </a:prstGeom>
          <a:solidFill>
            <a:srgbClr val="FEF2F2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72894" y="2662237"/>
            <a:ext cx="5809505" cy="1152525"/>
          </a:xfrm>
          <a:prstGeom prst="roundRect">
            <a:avLst>
              <a:gd name="adj" fmla="val 99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72894" y="4005262"/>
            <a:ext cx="5809505" cy="1152525"/>
          </a:xfrm>
          <a:prstGeom prst="roundRect">
            <a:avLst>
              <a:gd name="adj" fmla="val 9917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HALLAZGO 1 · ASIMETRÍA TERRITORIAL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Déficit Crónico Oculto en Agrícola La Unión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2833687"/>
            <a:ext cx="500155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91B1B"/>
                </a:solidFill>
                <a:latin typeface="Plus Jakarta Sans"/>
              </a:rPr>
              <a:t>BRECHA EN KILOGRAMOS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3081337"/>
            <a:ext cx="5001555" cy="800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sz="6300" b="1" i="0" u="none">
                <a:solidFill>
                  <a:srgbClr val="DC2626"/>
                </a:solidFill>
                <a:latin typeface="Plus Jakarta Sans"/>
              </a:rPr>
              <a:t>-1 450 kg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3995737"/>
            <a:ext cx="4096494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76,61 % de cumplimiento presupuestario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4586287"/>
            <a:ext cx="4096494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4 750 kg cosechados frente a 6 200 kg en meta (Ene–Sep 2026).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1019" y="2900362"/>
            <a:ext cx="618098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Diagnóstico Operativo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1019" y="3176587"/>
            <a:ext cx="542850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Única finca en estado rojo. Las otras tres fincas superan el 106 % y enmascaran el faltante.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1019" y="4243387"/>
            <a:ext cx="618098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66534"/>
                </a:solidFill>
                <a:latin typeface="Plus Jakarta Sans"/>
              </a:rPr>
              <a:t>Recomendación a la Dirección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1019" y="4519612"/>
            <a:ext cx="542850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5803D"/>
                </a:solidFill>
                <a:latin typeface="Plus Jakarta Sans"/>
              </a:rPr>
              <a:t>Intervención agronómica urgente: auditoría de suelos y optimización de fertirriego antes del ciclo de invierno.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43162"/>
            <a:ext cx="4782294" cy="2933700"/>
          </a:xfrm>
          <a:prstGeom prst="roundRect">
            <a:avLst>
              <a:gd name="adj" fmla="val 5194"/>
            </a:avLst>
          </a:prstGeom>
          <a:solidFill>
            <a:srgbClr val="FFFBEB"/>
          </a:solidFill>
          <a:ln w="9525">
            <a:solidFill>
              <a:srgbClr val="FEF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72894" y="2662237"/>
            <a:ext cx="5809505" cy="1152525"/>
          </a:xfrm>
          <a:prstGeom prst="roundRect">
            <a:avLst>
              <a:gd name="adj" fmla="val 99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72894" y="4005262"/>
            <a:ext cx="5809505" cy="1152525"/>
          </a:xfrm>
          <a:prstGeom prst="roundRect">
            <a:avLst>
              <a:gd name="adj" fmla="val 9917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97706"/>
                </a:solidFill>
                <a:latin typeface="Plus Jakarta Sans"/>
              </a:rPr>
              <a:t>HALLAZGO 2 · GESTIÓN LOGÍSTICA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Desfase Crítico en Tiempos de Entrega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2833687"/>
            <a:ext cx="500155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B45309"/>
                </a:solidFill>
                <a:latin typeface="Plus Jakarta Sans"/>
              </a:rPr>
              <a:t>VOLUMEN RETENIDO EN TRÁNSITO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3081337"/>
            <a:ext cx="5001555" cy="800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sz="6300" b="1" i="0" u="none">
                <a:solidFill>
                  <a:srgbClr val="D97706"/>
                </a:solidFill>
                <a:latin typeface="Plus Jakarta Sans"/>
              </a:rPr>
              <a:t>8 350 kg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3995737"/>
            <a:ext cx="4096494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9,14 % de la cosecha aún no llega a destino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4586287"/>
            <a:ext cx="4096494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91 300 kg cosechados en campo vs 82 950 kg registrados en centros de acopio.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1019" y="2900362"/>
            <a:ext cx="618098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Evidencia del Modelo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1019" y="3176587"/>
            <a:ext cx="542850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Cuello de botella agudo en septiembre: 10 500 kg cosechados frente a solo 1 200 kg recibidos en destino.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1019" y="4243387"/>
            <a:ext cx="618098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66534"/>
                </a:solidFill>
                <a:latin typeface="Plus Jakarta Sans"/>
              </a:rPr>
              <a:t>Recomendación a la Dirección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1019" y="4519612"/>
            <a:ext cx="542850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5803D"/>
                </a:solidFill>
                <a:latin typeface="Plus Jakarta Sans"/>
              </a:rPr>
              <a:t>Auditar capacidad de transporte en frío y fijar SLA de máximo 48 horas entre pesaje de campo y recepción en bodega.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43175"/>
            <a:ext cx="4782294" cy="2733675"/>
          </a:xfrm>
          <a:prstGeom prst="roundRect">
            <a:avLst>
              <a:gd name="adj" fmla="val 5574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72894" y="2662237"/>
            <a:ext cx="5809505" cy="1152525"/>
          </a:xfrm>
          <a:prstGeom prst="roundRect">
            <a:avLst>
              <a:gd name="adj" fmla="val 99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72894" y="4005262"/>
            <a:ext cx="5809505" cy="1152525"/>
          </a:xfrm>
          <a:prstGeom prst="roundRect">
            <a:avLst>
              <a:gd name="adj" fmla="val 9917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HALLAZGO 3 · MATRIZ PRODUCTIVA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Alta Concentración en el Podio de Cultivos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2933700"/>
            <a:ext cx="500155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D4ED8"/>
                </a:solidFill>
                <a:latin typeface="Plus Jakarta Sans"/>
              </a:rPr>
              <a:t>CONCENTRACIÓN DEL TOP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3181350"/>
            <a:ext cx="5001555" cy="800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sz="6300" b="1" i="0" u="none">
                <a:solidFill>
                  <a:srgbClr val="2563EB"/>
                </a:solidFill>
                <a:latin typeface="Plus Jakarta Sans"/>
              </a:rPr>
              <a:t>81,1 %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4095750"/>
            <a:ext cx="4096494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74 050 kg concentrados en tres cultivos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4686300"/>
            <a:ext cx="500155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Banano (43,1k kg), Mango (17,5k kg) y Maíz (13,45k kg).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1019" y="2900362"/>
            <a:ext cx="618098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Exposición Operativa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1019" y="3176587"/>
            <a:ext cx="542850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El banano representa casi la mitad del volumen de la empresa, exponiendo los ingresos a riesgos fitosanitarios.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1019" y="4243387"/>
            <a:ext cx="618098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66534"/>
                </a:solidFill>
                <a:latin typeface="Plus Jakarta Sans"/>
              </a:rPr>
              <a:t>Recomendación a la Dirección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1019" y="4519612"/>
            <a:ext cx="542850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5803D"/>
                </a:solidFill>
                <a:latin typeface="Plus Jakarta Sans"/>
              </a:rPr>
              <a:t>Incentivar rotación agronómica y planificar siembras escalonadas de ciclo corto para estabilizar el flujo de caja.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236589"/>
            <a:ext cx="4782294" cy="3346846"/>
          </a:xfrm>
          <a:prstGeom prst="roundRect">
            <a:avLst>
              <a:gd name="adj" fmla="val 4553"/>
            </a:avLst>
          </a:prstGeom>
          <a:solidFill>
            <a:srgbClr val="FEF2F2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72894" y="2662237"/>
            <a:ext cx="5809505" cy="1152525"/>
          </a:xfrm>
          <a:prstGeom prst="roundRect">
            <a:avLst>
              <a:gd name="adj" fmla="val 99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72894" y="4005262"/>
            <a:ext cx="5809505" cy="1152525"/>
          </a:xfrm>
          <a:prstGeom prst="roundRect">
            <a:avLst>
              <a:gd name="adj" fmla="val 9917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B91C1C"/>
                </a:solidFill>
                <a:latin typeface="Plus Jakarta Sans"/>
              </a:rPr>
              <a:t>LA ADVERTENCIA · ERROR DE INTERPRETACIÓN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Riesgo de Cálculo Erróneo en Bonificaciones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2627114"/>
            <a:ext cx="500155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91B1B"/>
                </a:solidFill>
                <a:latin typeface="Plus Jakarta Sans"/>
              </a:rPr>
              <a:t>DISCREPANCIA CONTRACTUAL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2874764"/>
            <a:ext cx="4096494" cy="1508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sz="5400" b="1" i="0" u="none">
                <a:solidFill>
                  <a:srgbClr val="B91C1C"/>
                </a:solidFill>
                <a:latin typeface="Plus Jakarta Sans"/>
              </a:rPr>
              <a:t>5 100 vs 6 550 kg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4497585"/>
            <a:ext cx="500155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Plus Jakarta Sans"/>
              </a:rPr>
              <a:t>Diferencia de 1 450 kg en bonos por liquidar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4792860"/>
            <a:ext cx="4096494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La visión consolidada absorbe indebidamente las pérdidas individuales.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1019" y="2900362"/>
            <a:ext cx="618098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El Espejismo de la Suma 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1019" y="3176587"/>
            <a:ext cx="542850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Si se liquida a nivel empresa se pagan solo 5 100 kg, castigando a los administradores que sobrecumplieron su meta.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1019" y="4243387"/>
            <a:ext cx="618098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91B1B"/>
                </a:solidFill>
                <a:latin typeface="Plus Jakarta Sans"/>
              </a:rPr>
              <a:t>Mandato Contractual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1019" y="4519612"/>
            <a:ext cx="542850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B91C1C"/>
                </a:solidFill>
                <a:latin typeface="Plus Jakarta Sans"/>
              </a:rPr>
              <a:t>La liquidación debe ser estrictamente finca por finca: 6 550 kg en bonos más 1 450 kg en fondos de apoyo compensatorio.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76512"/>
            <a:ext cx="4782294" cy="2667000"/>
          </a:xfrm>
          <a:prstGeom prst="roundRect">
            <a:avLst>
              <a:gd name="adj" fmla="val 5714"/>
            </a:avLst>
          </a:prstGeom>
          <a:solidFill>
            <a:srgbClr val="F0F9FF"/>
          </a:solidFill>
          <a:ln w="9525">
            <a:solidFill>
              <a:srgbClr val="E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72894" y="2166937"/>
            <a:ext cx="5809505" cy="104775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72894" y="3386137"/>
            <a:ext cx="5809505" cy="104775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772894" y="4605337"/>
            <a:ext cx="5809505" cy="1047750"/>
          </a:xfrm>
          <a:prstGeom prst="roundRect">
            <a:avLst>
              <a:gd name="adj" fmla="val 10909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BITÁCORA TÉCNICA · CALIDAD DEL DATO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Normalización de Metas Matriciales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2967037"/>
            <a:ext cx="500155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369A1"/>
                </a:solidFill>
                <a:latin typeface="Plus Jakarta Sans"/>
              </a:rPr>
              <a:t>REGISTROS NORMALIZADOS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3214687"/>
            <a:ext cx="5001555" cy="800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sz="6300" b="1" i="0" u="none">
                <a:solidFill>
                  <a:srgbClr val="0284C7"/>
                </a:solidFill>
                <a:latin typeface="Plus Jakarta Sans"/>
              </a:rPr>
              <a:t>48 Filas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4129087"/>
            <a:ext cx="500155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Estructura tabular de hechos (h_meta)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4452937"/>
            <a:ext cx="4096494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4 entidades territoriales × 12 periodos mensuales exactos.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91969" y="2386012"/>
            <a:ext cx="620003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Qué Traía el Archivo Origen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1969" y="2633662"/>
            <a:ext cx="546660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Estructura ancha con meses como columnas, fila inferior de totales y columna lateral de total general.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91969" y="3605212"/>
            <a:ext cx="620003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Cómo se Detectó el Error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91969" y="3852862"/>
            <a:ext cx="546660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El cumplimiento marcaba 83 % (sumando 110 000 kg anuales) por falta de granularidad temporal con el calendario.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91969" y="4824412"/>
            <a:ext cx="620003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66534"/>
                </a:solidFill>
                <a:latin typeface="Plus Jakarta Sans"/>
              </a:rPr>
              <a:t>Solución en Power Query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91969" y="5072062"/>
            <a:ext cx="546660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15803D"/>
                </a:solidFill>
                <a:latin typeface="Plus Jakarta Sans"/>
              </a:rPr>
              <a:t>Exclusión de totales estáticos y anulación de dinamización dejando fecha_mes y kg_meta tipificados.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76512"/>
            <a:ext cx="4782294" cy="2667000"/>
          </a:xfrm>
          <a:prstGeom prst="roundRect">
            <a:avLst>
              <a:gd name="adj" fmla="val 5714"/>
            </a:avLst>
          </a:prstGeom>
          <a:solidFill>
            <a:srgbClr val="F5F3FF"/>
          </a:solidFill>
          <a:ln w="9525">
            <a:solidFill>
              <a:srgbClr val="EDE9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72894" y="2166937"/>
            <a:ext cx="5809505" cy="104775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72894" y="3386137"/>
            <a:ext cx="5809505" cy="104775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772894" y="4605337"/>
            <a:ext cx="5809505" cy="1047750"/>
          </a:xfrm>
          <a:prstGeom prst="roundRect">
            <a:avLst>
              <a:gd name="adj" fmla="val 10909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7C3AED"/>
                </a:solidFill>
                <a:latin typeface="Plus Jakarta Sans"/>
              </a:rPr>
              <a:t>BITÁCORA TÉCNICA · SEGURIDAD POR FILA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Calibración RLS y Propagación Bidireccional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2967037"/>
            <a:ext cx="500155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D28D9"/>
                </a:solidFill>
                <a:latin typeface="Plus Jakarta Sans"/>
              </a:rPr>
              <a:t>VALIDACIÓN DE ROL REGIONAL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3214687"/>
            <a:ext cx="5001555" cy="800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sz="6300" b="1" i="0" u="none">
                <a:solidFill>
                  <a:srgbClr val="7C3AED"/>
                </a:solidFill>
                <a:latin typeface="Plus Jakarta Sans"/>
              </a:rPr>
              <a:t>104,44 %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4129087"/>
            <a:ext cx="500155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2 fincas asignadas al usuario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4452937"/>
            <a:ext cx="4096494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Agrícola La Unión y Hacienda Los Ceibos aisladas correctamente.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91969" y="2386012"/>
            <a:ext cx="620003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Falla Inicial Detectada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1969" y="2633662"/>
            <a:ext cx="546660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Al simular regional.sur@agrodb.test, el usuario visualizaba las 4 fincas y el cumplimiento global (105,92 %).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91969" y="3605212"/>
            <a:ext cx="620003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Causa Técnica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91969" y="3852862"/>
            <a:ext cx="546660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La relación entre seguridad y dim_finca era unidireccional, bloqueando la propagación del contexto de filtro.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91969" y="4824412"/>
            <a:ext cx="620003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66534"/>
                </a:solidFill>
                <a:latin typeface="Plus Jakarta Sans"/>
              </a:rPr>
              <a:t>Ajuste y Certificación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91969" y="5072062"/>
            <a:ext cx="546660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15803D"/>
                </a:solidFill>
                <a:latin typeface="Plus Jakarta Sans"/>
              </a:rPr>
              <a:t>Activación de filtro cruzado en ambas direcciones con flag de seguridad activo. Conexión certificada.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104905" y="1905000"/>
            <a:ext cx="4477494" cy="1209675"/>
          </a:xfrm>
          <a:prstGeom prst="roundRect">
            <a:avLst>
              <a:gd name="adj" fmla="val 944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104905" y="3267075"/>
            <a:ext cx="4477494" cy="1209675"/>
          </a:xfrm>
          <a:prstGeom prst="roundRect">
            <a:avLst>
              <a:gd name="adj" fmla="val 944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04905" y="4629150"/>
            <a:ext cx="4477494" cy="1209675"/>
          </a:xfrm>
          <a:prstGeom prst="roundRect">
            <a:avLst>
              <a:gd name="adj" fmla="val 944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85912"/>
            <a:ext cx="6190505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82150" y="933450"/>
            <a:ext cx="250031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64748B"/>
                </a:solidFill>
                <a:latin typeface="Plus Jakarta Sans"/>
              </a:rPr>
              <a:t>Página de Auditoría de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625078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GOBERNANZA Y AUDITORÍA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5800"/>
            <a:ext cx="656332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Por Qué Creerle a Este Tablero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43030" y="2143125"/>
            <a:ext cx="4848969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59669"/>
                </a:solidFill>
                <a:latin typeface="Plus Jakarta Sans"/>
              </a:rPr>
              <a:t>0 Cosechas Repetidas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43030" y="2514600"/>
            <a:ext cx="4096494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Validación de clave primaria sin duplicados ni doble pesaje en báscula.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43030" y="3505200"/>
            <a:ext cx="4848969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730 Días Continuos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43030" y="3876675"/>
            <a:ext cx="4096494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Calendario completo 2025–2026 sin fechas vacías ni claves huérfanas.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43030" y="4867275"/>
            <a:ext cx="4848969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136 600 kg Reconciliados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43030" y="5238750"/>
            <a:ext cx="4096494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Cuadre exacto con el total histórico reportado por los orígenes CSV.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C7999D75-C607-A9C1-ABAA-AD20B5827E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402" y="1912408"/>
            <a:ext cx="5984899" cy="37998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38650" y="4381500"/>
            <a:ext cx="3314700" cy="400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438650" y="4381500"/>
            <a:ext cx="3314700" cy="9525"/>
          </a:xfrm>
          <a:prstGeom prst="rect">
            <a:avLst/>
          </a:prstGeom>
          <a:solidFill>
            <a:srgbClr val="1E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076450"/>
            <a:ext cx="609600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247900"/>
            <a:ext cx="304800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57920" y="2914650"/>
            <a:ext cx="9276159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300" b="1" i="0" u="none">
                <a:solidFill>
                  <a:srgbClr val="F8FAFC"/>
                </a:solidFill>
                <a:latin typeface="Plus Jakarta Sans"/>
              </a:rPr>
              <a:t>Modelo Disponible para Preguntas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600450"/>
            <a:ext cx="76200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4A3B8"/>
                </a:solidFill>
                <a:latin typeface="Plus Jakarta Sans"/>
              </a:rPr>
              <a:t>Power BI Desktop abierto con medidas DAX, trazabilidad de relaciones y bitácora técnica lista para auditoría.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5775" y="4581525"/>
            <a:ext cx="11715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4D399"/>
                </a:solidFill>
                <a:latin typeface="Plus Jakarta Sans"/>
              </a:rPr>
              <a:t>Daniel Troya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63765" y="4581525"/>
            <a:ext cx="26550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94A3B8"/>
                </a:solidFill>
                <a:latin typeface="Plus Jakarta Sans"/>
              </a:rPr>
              <a:t>Proyecto Final · AgroDB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349e4846-88cf-4894-bf06-ac98d70f27be}" enabled="1" method="Privileged" siteId="{5fd5460a-b425-49de-9bd0-fcd26270d30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753</Words>
  <Application>Microsoft Office PowerPoint</Application>
  <PresentationFormat>Panorámica</PresentationFormat>
  <Paragraphs>94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Plus Jakarta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Daniel Moises Troya Riofrio</cp:lastModifiedBy>
  <cp:revision>2</cp:revision>
  <dcterms:created xsi:type="dcterms:W3CDTF">2013-01-27T09:14:16Z</dcterms:created>
  <dcterms:modified xsi:type="dcterms:W3CDTF">2026-10-12T02:20:35Z</dcterms:modified>
  <cp:category/>
</cp:coreProperties>
</file>