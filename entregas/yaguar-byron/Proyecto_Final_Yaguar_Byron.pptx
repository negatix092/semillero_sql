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lang="es-ES" sz="1400" b="0" i="0" u="none" strike="noStrike">
                <a:solidFill>
                  <a:srgbClr val="1B2A22"/>
                </a:solidFill>
                <a:latin typeface="+mn-lt"/>
              </a:rPr>
              <a:t>Cumplimiento por finca, enero–septiembre de 2026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Cumplimiento (%)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01-4669-AD1E-660D6A2802A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001-4669-AD1E-660D6A2802A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001-4669-AD1E-660D6A2802A8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01-4669-AD1E-660D6A2802A8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Los Ceibos</c:v>
                </c:pt>
                <c:pt idx="1">
                  <c:v>El Guayabo</c:v>
                </c:pt>
                <c:pt idx="2">
                  <c:v>Santa Rosa</c:v>
                </c:pt>
                <c:pt idx="3">
                  <c:v>La Unión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108.75</c:v>
                </c:pt>
                <c:pt idx="1">
                  <c:v>108.57</c:v>
                </c:pt>
                <c:pt idx="2">
                  <c:v>106.58</c:v>
                </c:pt>
                <c:pt idx="3">
                  <c:v>76.61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01-4669-AD1E-660D6A2802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lang="es-ES" sz="1400" b="0" i="0" u="none" strike="noStrike">
                <a:solidFill>
                  <a:srgbClr val="1B2A22"/>
                </a:solidFill>
                <a:latin typeface="+mn-lt"/>
              </a:rPr>
              <a:t>Kilos cosechados y entregados por mes, 2026 (kg)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Cosechados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6200</c:v>
                </c:pt>
                <c:pt idx="1">
                  <c:v>8700</c:v>
                </c:pt>
                <c:pt idx="2">
                  <c:v>12000</c:v>
                </c:pt>
                <c:pt idx="3">
                  <c:v>19800</c:v>
                </c:pt>
                <c:pt idx="4">
                  <c:v>8650</c:v>
                </c:pt>
                <c:pt idx="5">
                  <c:v>7800</c:v>
                </c:pt>
                <c:pt idx="6">
                  <c:v>8950</c:v>
                </c:pt>
                <c:pt idx="7">
                  <c:v>8700</c:v>
                </c:pt>
                <c:pt idx="8">
                  <c:v>10500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8-4BE2-AABF-34526C7D9F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Entregados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5950</c:v>
                </c:pt>
                <c:pt idx="1">
                  <c:v>9700</c:v>
                </c:pt>
                <c:pt idx="2">
                  <c:v>10800</c:v>
                </c:pt>
                <c:pt idx="3">
                  <c:v>15400</c:v>
                </c:pt>
                <c:pt idx="4">
                  <c:v>13600</c:v>
                </c:pt>
                <c:pt idx="5">
                  <c:v>8450</c:v>
                </c:pt>
                <c:pt idx="6">
                  <c:v>8100</c:v>
                </c:pt>
                <c:pt idx="7">
                  <c:v>9550</c:v>
                </c:pt>
                <c:pt idx="8">
                  <c:v>1250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88-4BE2-AABF-34526C7D9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FD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5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lang="es-ES" sz="1400" b="0" i="0" u="none" strike="noStrike">
                <a:solidFill>
                  <a:srgbClr val="1B2A22"/>
                </a:solidFill>
                <a:latin typeface="+mn-lt"/>
              </a:rPr>
              <a:t>Parte de kilos e ingresos por cultivo, enero–septiembre de 2026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los kilos</c:v>
                </c:pt>
              </c:strCache>
            </c:strRef>
          </c:tx>
          <c:spPr>
            <a:solidFill>
              <a:srgbClr val="4F6D7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Banano</c:v>
                </c:pt>
                <c:pt idx="1">
                  <c:v>Mango</c:v>
                </c:pt>
                <c:pt idx="2">
                  <c:v>Maíz</c:v>
                </c:pt>
                <c:pt idx="3">
                  <c:v>Guayaba</c:v>
                </c:pt>
                <c:pt idx="4">
                  <c:v>Cacao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47.65</c:v>
                </c:pt>
                <c:pt idx="1">
                  <c:v>19.170000000000002</c:v>
                </c:pt>
                <c:pt idx="2">
                  <c:v>14.79</c:v>
                </c:pt>
                <c:pt idx="3">
                  <c:v>13.2</c:v>
                </c:pt>
                <c:pt idx="4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85-4AEC-93AB-BD6F8E8C68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 los ingresos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Banano</c:v>
                </c:pt>
                <c:pt idx="1">
                  <c:v>Mango</c:v>
                </c:pt>
                <c:pt idx="2">
                  <c:v>Maíz</c:v>
                </c:pt>
                <c:pt idx="3">
                  <c:v>Guayaba</c:v>
                </c:pt>
                <c:pt idx="4">
                  <c:v>Cacao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32.67</c:v>
                </c:pt>
                <c:pt idx="1">
                  <c:v>17.82</c:v>
                </c:pt>
                <c:pt idx="2">
                  <c:v>7.45</c:v>
                </c:pt>
                <c:pt idx="3">
                  <c:v>15.09</c:v>
                </c:pt>
                <c:pt idx="4">
                  <c:v>26.96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85-4AEC-93AB-BD6F8E8C68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75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en voz alta: cuánto, contra cuánto y en qué periodo. 91 300 kg cosechados de enero a septiembre de 2026 contra 86 200 kg de meta de esos mismos nueve meses = 105,92 %. Ojo: la meta de todo 2026 es 110 000 kg; no se compara contra eso porque faltan tres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página Resumen. Leer de arriba abajo: la línea del cierre, las cuatro tarjetas, el semáforo por finca (La Unión en rojo) y kilos contra meta por mes. Todo con 2026 y los meses 1 a 9 marcados.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1. En la tarjeta del total no se ve: la empresa está en 105,92 %, pero La Unión cosechó 4 750 kg de una meta de 6 200 (le faltan 1 450 kg). Las otras tres fincas están por arriba de su meta. De ahí sale el apoyo de 1 450 kg y el bono de 6 550 kg, calculados finca por finca. Si preguntan por el bono sobre la empresa entera: da 5 100 y apoyo 0, y esconde el faltante de La 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2. Los kilos se miden por la fecha de corte; finanzas cobra por la fecha de entrega. Tres cosechas de septiembre (la 50, la 52 y la 53, 9 250 kg en total) se entregan el 7, el 6 y el 1 de octubre. Sus ingresos: 2 940 + 660 + 1 862 = 5 462 $, el 11,6 % de los 47 166,50 $ del periodo. Por eso [Kilos entregados] da 82 800 y [Kilos] da 91 300: 91 300 − 9 250 + 750 de una cosecha de diciembre de 2025 entregada en enero.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3. Medir solo en kilos engaña. Todo el cacao (4 750 kg) es de La Unión, la finca peor en kilos, pero sus ingresos del periodo son 12 715 $: la segunda finca en ingresos, por encima de Santa Rosa (10 193,50 $) y El Guayabo (8 848 $). Banano pesa 47,6 % de los kilos y 32,7 % de los ingresos. La meta de planeación solo existe en kilos.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Advertencia. [Variacion] de la empresa compara 91 300 kg de 2026 contra 40 000 kg de 2025, pero Hacienda Los Ceibos se compró en enero y no tiene cosechas de 2025: sus 43 500 kg suben el numerador sin base en el denominador. Sin Los Ceibos: 47 800 kg contra 40 000 kg = 19,50 %. 47 800 = 91 300 − 43 500.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 de bitácora del martes. El archivo bascula_2025-08.csv llama kg_neto a la columna que los otros 18 llaman kg. En la primera carga de h_cosecha, la calidad de columna de kg decía 96 % válido y 4 % vacío: 2 filas de 47 (las cosechas 16 y 17). Arreglo: dentro de la función Transformar archivo, renombrar kg_neto a kg con MissingField.Ignore, para que los 18 archivos que ya traen kg pasen sin error. Prueba de que quedó: kg 100 % válido y agosto de 2025 = 3 450 kg (2 200 + 1 250).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 de bitácora del martes. La carpeta bascula tiene bascula_2026-03 - copia.csv, idéntica a marzo (cosechas 30 a 33). Se vio porque cosecha_id tenía 43 distintos pero solo 39 únicos en 47 filas. Sumaban 12 000 kg de más. Se filtró por Source.Name y no con Quitar duplicados, porque la copia queda antes del original en el orden de archivos. Prueba: 43 filas con 43 distintos y [Cosechas repetidas] = 0 después de anexar la báscula digital; 53 cosechas en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página Auditoría. A la izquierda de la página: siete pruebas que deben dar 0 (cosechas repetidas, sin precio, sin kg, sin finca, sin cultivo, sin fecha en el calendario, fincas sin meta); todas dicen 0. A la derecha: ocho pruebas contra números que salieron de otra fuente (los archivos originales y la hoja de planeación): 53 cosechas, 136 600 kg, 110 000 de meta, 48 filas de metas, 86 200 de meta de enero a septiembre, 40 000 kg de 2025, 91 300 kg del cierre y 47 166,50 $ de ingresos. Todas dicen Sí cuadra. Si una no cuadrara, se vería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El cierre de septiembre 2026 · Yaguar Rios, Byron Joel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DB255"/>
                </a:solidFill>
              </a:rPr>
              <a:t>AGRODB · EL CIERRE DE SEPTIEMBRE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Cosechamos 91 300 kg contra una meta de 86 200 kg</a:t>
            </a:r>
            <a:endParaRPr lang="en-US" sz="3600" dirty="0"/>
          </a:p>
        </p:txBody>
      </p:sp>
      <p:sp>
        <p:nvSpPr>
          <p:cNvPr id="4" name="Cifra principal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E8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105,92 %</a:t>
            </a:r>
            <a:endParaRPr lang="en-US" sz="13000" dirty="0"/>
          </a:p>
        </p:txBody>
      </p:sp>
      <p:sp>
        <p:nvSpPr>
          <p:cNvPr id="5" name="Cifra principal texto"/>
          <p:cNvSpPr txBox="1"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de la meta cumplida, de enero a septiembre de 2026 (cierre al 30 de septiembre)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9BE"/>
                </a:solidFill>
              </a:rPr>
              <a:t>Byron Joel Yaguar Rios · Semillero SQL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El tablero: la empresa cumple, pero no todas las fincas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Página Resumen · enero–septiembre de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EE9C3B-B73E-E67C-8BF9-605447276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941" y="1147444"/>
            <a:ext cx="8002117" cy="4563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La Unión cumplió 76,61 % de su meta; la empresa, 105,92 %</a:t>
            </a:r>
            <a:endParaRPr lang="en-US" sz="2800" dirty="0"/>
          </a:p>
        </p:txBody>
      </p:sp>
      <p:sp>
        <p:nvSpPr>
          <p:cNvPr id="4" name="Hallazgo 1"/>
          <p:cNvSpPr txBox="1"/>
          <p:nvPr/>
        </p:nvSpPr>
        <p:spPr>
          <a:xfrm>
            <a:off x="548640" y="164592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76,61 %</a:t>
            </a:r>
            <a:endParaRPr lang="en-US" sz="8800" dirty="0"/>
          </a:p>
        </p:txBody>
      </p:sp>
      <p:sp>
        <p:nvSpPr>
          <p:cNvPr id="5" name="Hallazgo 1 texto"/>
          <p:cNvSpPr txBox="1"/>
          <p:nvPr/>
        </p:nvSpPr>
        <p:spPr>
          <a:xfrm>
            <a:off x="548640" y="3134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Cumplimiento de Agrícola La Unión: 4 750 de 6 200 kg, de enero a septiembre de 2026</a:t>
            </a:r>
            <a:endParaRPr lang="en-US" sz="1600" dirty="0"/>
          </a:p>
        </p:txBody>
      </p:sp>
      <p:sp>
        <p:nvSpPr>
          <p:cNvPr id="6" name="Recomendación fondo"/>
          <p:cNvSpPr/>
          <p:nvPr/>
        </p:nvSpPr>
        <p:spPr>
          <a:xfrm>
            <a:off x="548640" y="4526280"/>
            <a:ext cx="45720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Recomendación etiqueta"/>
          <p:cNvSpPr txBox="1"/>
          <p:nvPr/>
        </p:nvSpPr>
        <p:spPr>
          <a:xfrm>
            <a:off x="77724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RECOMENDACIÓN</a:t>
            </a:r>
            <a:endParaRPr lang="en-US" sz="1200" dirty="0"/>
          </a:p>
        </p:txBody>
      </p:sp>
      <p:sp>
        <p:nvSpPr>
          <p:cNvPr id="8" name="Recomendación texto"/>
          <p:cNvSpPr txBox="1"/>
          <p:nvPr/>
        </p:nvSpPr>
        <p:spPr>
          <a:xfrm>
            <a:off x="77724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Dirigir el apoyo a La Unión (le faltan 1 450 kg) y pedirle su plan de cosecha para el último trimestre.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1554480"/>
          <a:ext cx="60350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5 462 $ de los ingresos del cierre se cobran en octubre</a:t>
            </a:r>
            <a:endParaRPr lang="en-US" sz="2800" dirty="0"/>
          </a:p>
        </p:txBody>
      </p:sp>
      <p:sp>
        <p:nvSpPr>
          <p:cNvPr id="4" name="Hallazgo 2"/>
          <p:cNvSpPr txBox="1"/>
          <p:nvPr/>
        </p:nvSpPr>
        <p:spPr>
          <a:xfrm>
            <a:off x="548640" y="164592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5 462 $</a:t>
            </a:r>
            <a:endParaRPr lang="en-US" sz="8800" dirty="0"/>
          </a:p>
        </p:txBody>
      </p:sp>
      <p:sp>
        <p:nvSpPr>
          <p:cNvPr id="5" name="Hallazgo 2 texto"/>
          <p:cNvSpPr txBox="1"/>
          <p:nvPr/>
        </p:nvSpPr>
        <p:spPr>
          <a:xfrm>
            <a:off x="548640" y="31343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Ingresos de cosechas de septiembre que se entregan en octubre (9 250 kg), el 11,6 % de los 47 166,50 $ del cierre</a:t>
            </a:r>
            <a:endParaRPr lang="en-US" sz="1600" dirty="0"/>
          </a:p>
        </p:txBody>
      </p:sp>
      <p:sp>
        <p:nvSpPr>
          <p:cNvPr id="6" name="Recomendación fondo"/>
          <p:cNvSpPr/>
          <p:nvPr/>
        </p:nvSpPr>
        <p:spPr>
          <a:xfrm>
            <a:off x="548640" y="4572000"/>
            <a:ext cx="4572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Recomendación etiqueta"/>
          <p:cNvSpPr txBox="1"/>
          <p:nvPr/>
        </p:nvSpPr>
        <p:spPr>
          <a:xfrm>
            <a:off x="77724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RECOMENDACIÓN</a:t>
            </a:r>
            <a:endParaRPr lang="en-US" sz="1200" dirty="0"/>
          </a:p>
        </p:txBody>
      </p:sp>
      <p:sp>
        <p:nvSpPr>
          <p:cNvPr id="8" name="Recomendación texto"/>
          <p:cNvSpPr txBox="1"/>
          <p:nvPr/>
        </p:nvSpPr>
        <p:spPr>
          <a:xfrm>
            <a:off x="777240" y="50292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Presentar siempre kilos cosechados y entregados juntos, y contar esos 5 462 $ en el flujo de caja de octubre.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1554480"/>
          <a:ext cx="60350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El cacao da el 27,0 % de los ingresos con solo el 5,2 % de los kilos</a:t>
            </a:r>
            <a:endParaRPr lang="en-US" sz="2800" dirty="0"/>
          </a:p>
        </p:txBody>
      </p:sp>
      <p:sp>
        <p:nvSpPr>
          <p:cNvPr id="4" name="Hallazgo 3"/>
          <p:cNvSpPr txBox="1"/>
          <p:nvPr/>
        </p:nvSpPr>
        <p:spPr>
          <a:xfrm>
            <a:off x="548640" y="164592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27,0 %</a:t>
            </a:r>
            <a:endParaRPr lang="en-US" sz="8800" dirty="0"/>
          </a:p>
        </p:txBody>
      </p:sp>
      <p:sp>
        <p:nvSpPr>
          <p:cNvPr id="5" name="Hallazgo 3 texto"/>
          <p:cNvSpPr txBox="1"/>
          <p:nvPr/>
        </p:nvSpPr>
        <p:spPr>
          <a:xfrm>
            <a:off x="548640" y="3134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 los ingresos del cierre salen del cacao, que es el 5,2 % de los kilos (4 750 de 91 300 kg)</a:t>
            </a:r>
            <a:endParaRPr lang="en-US" sz="1600" dirty="0"/>
          </a:p>
        </p:txBody>
      </p:sp>
      <p:sp>
        <p:nvSpPr>
          <p:cNvPr id="6" name="Recomendación fondo"/>
          <p:cNvSpPr/>
          <p:nvPr/>
        </p:nvSpPr>
        <p:spPr>
          <a:xfrm>
            <a:off x="548640" y="4526280"/>
            <a:ext cx="45720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Recomendación etiqueta"/>
          <p:cNvSpPr txBox="1"/>
          <p:nvPr/>
        </p:nvSpPr>
        <p:spPr>
          <a:xfrm>
            <a:off x="77724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RECOMENDACIÓN</a:t>
            </a:r>
            <a:endParaRPr lang="en-US" sz="1200" dirty="0"/>
          </a:p>
        </p:txBody>
      </p:sp>
      <p:sp>
        <p:nvSpPr>
          <p:cNvPr id="8" name="Recomendación texto"/>
          <p:cNvSpPr txBox="1"/>
          <p:nvPr/>
        </p:nvSpPr>
        <p:spPr>
          <a:xfrm>
            <a:off x="77724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Agregar una meta en dólares, no solo en kilos: La Unión, la peor en kilos, es la segunda en ingresos.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1554480"/>
          <a:ext cx="60350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La variación de 128,25 % no es crecimiento: el real es 19,50 %</a:t>
            </a:r>
            <a:endParaRPr lang="en-US" sz="2800" dirty="0"/>
          </a:p>
        </p:txBody>
      </p:sp>
      <p:sp>
        <p:nvSpPr>
          <p:cNvPr id="4" name="Tarjeta total fondo"/>
          <p:cNvSpPr/>
          <p:nvPr/>
        </p:nvSpPr>
        <p:spPr>
          <a:xfrm>
            <a:off x="548640" y="1417320"/>
            <a:ext cx="47548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 txBox="1"/>
          <p:nvPr/>
        </p:nvSpPr>
        <p:spPr>
          <a:xfrm>
            <a:off x="82296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6"/>
                </a:solidFill>
              </a:rPr>
              <a:t>LA TARJETA DEL TOTAL: SE LEE MAL</a:t>
            </a:r>
            <a:endParaRPr lang="en-US" sz="1200" dirty="0"/>
          </a:p>
        </p:txBody>
      </p:sp>
      <p:sp>
        <p:nvSpPr>
          <p:cNvPr id="6" name="Cifra tarjeta total"/>
          <p:cNvSpPr txBox="1"/>
          <p:nvPr/>
        </p:nvSpPr>
        <p:spPr>
          <a:xfrm>
            <a:off x="822960" y="19659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128,25 %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91 300 kg contra 40 000 kg de 2025. Incluye a Los Ceibos, comprada en enero y sin cosechas de 2025.</a:t>
            </a:r>
            <a:endParaRPr lang="en-US" sz="1600" dirty="0"/>
          </a:p>
        </p:txBody>
      </p:sp>
      <p:sp>
        <p:nvSpPr>
          <p:cNvPr id="8" name="Comparable fondo"/>
          <p:cNvSpPr/>
          <p:nvPr/>
        </p:nvSpPr>
        <p:spPr>
          <a:xfrm>
            <a:off x="5669280" y="1417320"/>
            <a:ext cx="5943600" cy="329184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 txBox="1"/>
          <p:nvPr/>
        </p:nvSpPr>
        <p:spPr>
          <a:xfrm>
            <a:off x="598932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LO COMPARABLE: SIN LOS CEIBOS</a:t>
            </a:r>
            <a:endParaRPr lang="en-US" sz="1200" dirty="0"/>
          </a:p>
        </p:txBody>
      </p:sp>
      <p:sp>
        <p:nvSpPr>
          <p:cNvPr id="10" name="Cifra comparable"/>
          <p:cNvSpPr txBox="1"/>
          <p:nvPr/>
        </p:nvSpPr>
        <p:spPr>
          <a:xfrm>
            <a:off x="5989320" y="192024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19,50 %</a:t>
            </a:r>
            <a:endParaRPr lang="en-US" sz="96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35204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47 800 kg contra 40 000 kg, de enero a septiembre, solo con las fincas que ya existían en 2025.</a:t>
            </a:r>
            <a:endParaRPr lang="en-US" sz="1600" dirty="0"/>
          </a:p>
        </p:txBody>
      </p:sp>
      <p:sp>
        <p:nvSpPr>
          <p:cNvPr id="12" name="Recomendación fondo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Recomendación etiqueta"/>
          <p:cNvSpPr txBox="1"/>
          <p:nvPr/>
        </p:nvSpPr>
        <p:spPr>
          <a:xfrm>
            <a:off x="777240" y="5394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CÓMO LEERLO</a:t>
            </a:r>
            <a:endParaRPr lang="en-US" sz="1200" dirty="0"/>
          </a:p>
        </p:txBody>
      </p:sp>
      <p:sp>
        <p:nvSpPr>
          <p:cNvPr id="14" name="Recomendación texto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Comparar contra 2025 solo a las fincas que ya cosechaban entonces. El crecimiento real fue de 19,50 %, no de 128,25 %.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La báscula de agosto de 2025 traía otro nombre para los kilos</a:t>
            </a:r>
            <a:endParaRPr lang="en-US" sz="2800" dirty="0"/>
          </a:p>
        </p:txBody>
      </p:sp>
      <p:sp>
        <p:nvSpPr>
          <p:cNvPr id="4" name="Cifra fondo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Cifra bitácora"/>
          <p:cNvSpPr txBox="1"/>
          <p:nvPr/>
        </p:nvSpPr>
        <p:spPr>
          <a:xfrm>
            <a:off x="777240" y="22860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3 450 kg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49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que faltaban de agosto de 2025 (cosechas 16 y 17) antes de corregirlo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QUÉ TRAÍA EL ARCHIVO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92024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bascula_2025-08.csv llama kg_neto a la columna que los demás archivos llaman kg.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2761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CÓMO ME DI CUENTA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03580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En la primera carga, la calidad de la columna kg decía 96 % válido y 4 % vacío: 2 filas de 47.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3877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QUÉ NÚMERO DABA MAL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415137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Los kilos de agosto de 2025 salían vacíos y el total quedaba corto.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49926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CÓMO SUPE QUE QUEDÓ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526694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kg pasó a 100 % válido y la matriz da 3 450 kg en agosto de 2025.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Una copia de marzo de 2026 repetía cuatro cosechas</a:t>
            </a:r>
            <a:endParaRPr lang="en-US" sz="2800" dirty="0"/>
          </a:p>
        </p:txBody>
      </p:sp>
      <p:sp>
        <p:nvSpPr>
          <p:cNvPr id="4" name="Cifra fondo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Cifra bitácora"/>
          <p:cNvSpPr txBox="1"/>
          <p:nvPr/>
        </p:nvSpPr>
        <p:spPr>
          <a:xfrm>
            <a:off x="777240" y="2057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12 000 kg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49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que se habrían contado dos veces (4 cosechas repetidas) si la copia hubiera entrado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QUÉ TRAÍA EL ARCHIVO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92024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La carpeta tenía bascula_2026-03 - copia.csv: las mismas cosechas 30 a 33 de marzo, dos veces.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2761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CÓMO ME DI CUENTA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03580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cosecha_id tenía 43 valores distintos pero solo 39 únicos en 47 filas.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3877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QUÉ NÚMERO DABA MAL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415137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Cosechas repetidas = 4 y los kilos inflados en 12 000 kg.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49926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CÓMO SUPE QUE QUEDÓ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526694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Quité la copia por nombre de archivo: cosechas repetidas = 0 y 53 cosechas en total.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Por qué creerle: ocho pruebas coinciden con otras fuentes y siete dan cero</a:t>
            </a:r>
            <a:endParaRPr lang="en-US" sz="2800" dirty="0"/>
          </a:p>
        </p:txBody>
      </p:sp>
      <p:sp>
        <p:nvSpPr>
          <p:cNvPr id="4" name="Auditoría"/>
          <p:cNvSpPr txBox="1"/>
          <p:nvPr/>
        </p:nvSpPr>
        <p:spPr>
          <a:xfrm>
            <a:off x="548640" y="1645920"/>
            <a:ext cx="393192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 8</a:t>
            </a:r>
            <a:endParaRPr lang="en-US" sz="8000" dirty="0"/>
          </a:p>
        </p:txBody>
      </p:sp>
      <p:sp>
        <p:nvSpPr>
          <p:cNvPr id="5" name="Auditoría texto"/>
          <p:cNvSpPr txBox="1"/>
          <p:nvPr/>
        </p:nvSpPr>
        <p:spPr>
          <a:xfrm>
            <a:off x="548640" y="3007360"/>
            <a:ext cx="3469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pruebas coinciden con un número que salió de otra fuente. Y las 7 pruebas que debían dar 0 dieron 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E6F38F-7160-6B3E-5A3E-C3BD2339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818" y="1645920"/>
            <a:ext cx="8030696" cy="33437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erre AgroDB">
  <a:themeElements>
    <a:clrScheme name="Cierre AgroDB">
      <a:dk1>
        <a:srgbClr val="1B2A22"/>
      </a:dk1>
      <a:lt1>
        <a:srgbClr val="FFFFFF"/>
      </a:lt1>
      <a:dk2>
        <a:srgbClr val="14342B"/>
      </a:dk2>
      <a:lt2>
        <a:srgbClr val="EEF3EC"/>
      </a:lt2>
      <a:accent1>
        <a:srgbClr val="2E7D4F"/>
      </a:accent1>
      <a:accent2>
        <a:srgbClr val="D9822B"/>
      </a:accent2>
      <a:accent3>
        <a:srgbClr val="C0392B"/>
      </a:accent3>
      <a:accent4>
        <a:srgbClr val="4F6D7A"/>
      </a:accent4>
      <a:accent5>
        <a:srgbClr val="8DB255"/>
      </a:accent5>
      <a:accent6>
        <a:srgbClr val="6B7570"/>
      </a:accent6>
      <a:hlink>
        <a:srgbClr val="2E7D4F"/>
      </a:hlink>
      <a:folHlink>
        <a:srgbClr val="6B7570"/>
      </a:folHlink>
    </a:clrScheme>
    <a:fontScheme name="Cierre AgroD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9e4846-88cf-4894-bf06-ac98d70f27be}" enabled="1" method="Privileged" siteId="{5fd5460a-b425-49de-9bd0-fcd26270d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1508</Words>
  <Application>Microsoft Office PowerPoint</Application>
  <PresentationFormat>Widescreen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Cierre AgroDB</vt:lpstr>
      <vt:lpstr>Cosechamos 91 300 kg contra una meta de 86 200 kg</vt:lpstr>
      <vt:lpstr>El tablero: la empresa cumple, pero no todas las fincas</vt:lpstr>
      <vt:lpstr>La Unión cumplió 76,61 % de su meta; la empresa, 105,92 %</vt:lpstr>
      <vt:lpstr>5 462 $ de los ingresos del cierre se cobran en octubre</vt:lpstr>
      <vt:lpstr>El cacao da el 27,0 % de los ingresos con solo el 5,2 % de los kilos</vt:lpstr>
      <vt:lpstr>La variación de 128,25 % no es crecimiento: el real es 19,50 %</vt:lpstr>
      <vt:lpstr>La báscula de agosto de 2025 traía otro nombre para los kilos</vt:lpstr>
      <vt:lpstr>Una copia de marzo de 2026 repetía cuatro cosechas</vt:lpstr>
      <vt:lpstr>Por qué creerle: ocho pruebas coinciden con otras fuentes y siete dan cero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cierre de septiembre 2026</dc:title>
  <dc:subject>PptxGenJS Presentation</dc:subject>
  <dc:creator>Byron Joel Yaguar Rios</dc:creator>
  <cp:lastModifiedBy>Byron Joel Yaguar Rios</cp:lastModifiedBy>
  <cp:revision>3</cp:revision>
  <dcterms:created xsi:type="dcterms:W3CDTF">2026-10-11T05:33:04Z</dcterms:created>
  <dcterms:modified xsi:type="dcterms:W3CDTF">2026-10-12T01:37:24Z</dcterms:modified>
</cp:coreProperties>
</file>