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904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AgroDB cerró el período enero-septiembre 2026 con 91.300 kg cosechados frente a una meta acumulada de 86.200 kg: cumplimiento de 105,92 % e ingresos de 47,17 mil.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Mensaje: la empresa cerró el período por encima de la meta planificada y con resultados positivos en producción e ingresos. Evidencia de respaldo: captura proyecto-final-1-resumen.png.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 1: Hacienda Los Ceibos produjo 43.500 kg y fue la finca con mayor aporte a la producción total. Recomendación: mantener seguimiento operativo y comercial sobre los factores que impulsan su rendimiento.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 2: Agrícola La Unión cerró con 76,61 % de cumplimiento y fue la única finca por debajo del objetivo. Recomendación: revisar planificación operativa, productividad y disponibilidad de cultivos.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 3: podio de cultivos por kilos cosechados. 1. Banano 43.500 kg, 2. Mango 33.400 kg, 3. Maíz 25.200 kg. Las barras son proporcionales a los kilos de cada cultivo. Recomendación: priorizar seguimiento de producción y estrategia comercial del banano.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Escenario de planeación: se evaluó una meta al 110 %. Resultado: meta ajustada de 121.000 kg y cumplimiento ajustado de 112,89 %. El modelo permite simular incrementos de meta y evaluar el impacto sobre el desempeño esperado.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Advertencia: kilos cosechados = 91.300; kilos entregados = 137.000. Son momentos diferentes del proceso. Las entregas utilizan la fecha de cobro y pueden pertenecer a cosechas de períodos distintos, por eso no deben compararse como si fueran la misma medida.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1: el archivo bascula_2026-03 - copia.csv duplicaba cosechas y kilos. Caso 2: el encabezado kg_neto generaba inconsistencias en los kilos reportados. Las validaciones permitieron garantizar la calidad del modelo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Controles aplicados: 53 cosechas procesadas, 0 cosechas repetidas, 110.000 kg de meta anual validada, 48 registros en h_meta y seguridad dinámica validada. Evidencia de respaldo: captura proyecto-final-3-auditoria.png.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Conclusión: AgroDB superó la meta acumulada de enero a septiembre de 2026. Kilos 91.300, meta 86.200, cumplimiento 105,92 %, ingresos 47,17 mil. Mensaje para dirección: cierre con cumplimiento positivo, producción superior a la meta planificada y un modelo auditado que ofrece información confiable para decidir.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285"/>
            <a:ext cx="10566400" cy="46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F3A2B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427"/>
            <a:ext cx="10566400" cy="410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285"/>
            <a:ext cx="10566400" cy="46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F3A2B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427"/>
            <a:ext cx="10566400" cy="410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214085"/>
            <a:ext cx="10883392" cy="807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5F1E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El cierre en una línea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2148769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Período enero–septiembre 2026: la cosecha superó la meta acumulada.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" y="4025195"/>
            <a:ext cx="2489200" cy="1816806"/>
          </a:xfrm>
          <a:prstGeom prst="roundRect">
            <a:avLst>
              <a:gd name="adj" fmla="val 5592"/>
            </a:avLst>
          </a:prstGeom>
          <a:solidFill>
            <a:srgbClr val="2A4A38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4025195"/>
            <a:ext cx="2489200" cy="1816806"/>
          </a:xfrm>
          <a:custGeom>
            <a:avLst/>
            <a:gdLst/>
            <a:ahLst/>
            <a:cxnLst/>
            <a:rect l="l" t="t" r="r" b="b"/>
            <a:pathLst>
              <a:path w="2489200" h="181680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387600" y="0"/>
                </a:lnTo>
                <a:arcTo wR="101600" hR="101600" stAng="16200000" swAng="5400000"/>
                <a:lnTo>
                  <a:pt x="24892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4313061"/>
            <a:ext cx="2040636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Cosechados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6800" y="4612746"/>
            <a:ext cx="2040636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91.300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66800" y="5303573"/>
            <a:ext cx="204063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05200" y="4025195"/>
            <a:ext cx="2489200" cy="1816806"/>
          </a:xfrm>
          <a:prstGeom prst="roundRect">
            <a:avLst>
              <a:gd name="adj" fmla="val 5592"/>
            </a:avLst>
          </a:prstGeom>
          <a:solidFill>
            <a:srgbClr val="2A4A38"/>
          </a:solidFill>
          <a:ln/>
        </p:spPr>
      </p:sp>
      <p:sp>
        <p:nvSpPr>
          <p:cNvPr id="12" name="Shape 10"/>
          <p:cNvSpPr/>
          <p:nvPr/>
        </p:nvSpPr>
        <p:spPr>
          <a:xfrm>
            <a:off x="3505200" y="4025195"/>
            <a:ext cx="2489200" cy="1816806"/>
          </a:xfrm>
          <a:custGeom>
            <a:avLst/>
            <a:gdLst/>
            <a:ahLst/>
            <a:cxnLst/>
            <a:rect l="l" t="t" r="r" b="b"/>
            <a:pathLst>
              <a:path w="2489200" h="181680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387600" y="0"/>
                </a:lnTo>
                <a:arcTo wR="101600" hR="101600" stAng="16200000" swAng="5400000"/>
                <a:lnTo>
                  <a:pt x="24892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3759200" y="4313061"/>
            <a:ext cx="2040636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Meta acumulada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59200" y="4612746"/>
            <a:ext cx="2040636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5F1E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86.200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759200" y="5303573"/>
            <a:ext cx="204063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7600" y="4025195"/>
            <a:ext cx="2489200" cy="1816806"/>
          </a:xfrm>
          <a:prstGeom prst="roundRect">
            <a:avLst>
              <a:gd name="adj" fmla="val 5592"/>
            </a:avLst>
          </a:prstGeom>
          <a:solidFill>
            <a:srgbClr val="2A4A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4025195"/>
            <a:ext cx="2489200" cy="1816806"/>
          </a:xfrm>
          <a:custGeom>
            <a:avLst/>
            <a:gdLst/>
            <a:ahLst/>
            <a:cxnLst/>
            <a:rect l="l" t="t" r="r" b="b"/>
            <a:pathLst>
              <a:path w="2489200" h="181680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387600" y="0"/>
                </a:lnTo>
                <a:arcTo wR="101600" hR="101600" stAng="16200000" swAng="5400000"/>
                <a:lnTo>
                  <a:pt x="24892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451600" y="4313061"/>
            <a:ext cx="2040636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1600" y="4612746"/>
            <a:ext cx="2040636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105,92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51600" y="5303573"/>
            <a:ext cx="204063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90000" y="4025195"/>
            <a:ext cx="2489200" cy="1816806"/>
          </a:xfrm>
          <a:prstGeom prst="roundRect">
            <a:avLst>
              <a:gd name="adj" fmla="val 5592"/>
            </a:avLst>
          </a:prstGeom>
          <a:solidFill>
            <a:srgbClr val="2A4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8890000" y="4025195"/>
            <a:ext cx="2489200" cy="1816806"/>
          </a:xfrm>
          <a:custGeom>
            <a:avLst/>
            <a:gdLst/>
            <a:ahLst/>
            <a:cxnLst/>
            <a:rect l="l" t="t" r="r" b="b"/>
            <a:pathLst>
              <a:path w="2489200" h="181680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387600" y="0"/>
                </a:lnTo>
                <a:arcTo wR="101600" hR="101600" stAng="16200000" swAng="5400000"/>
                <a:lnTo>
                  <a:pt x="24892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4313061"/>
            <a:ext cx="2040636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Ingresos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4612746"/>
            <a:ext cx="2040636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5F1E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47,17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144000" y="5303573"/>
            <a:ext cx="204063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58"/>
            <a:ext cx="78486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Proyecto_Final_Herrera_Brando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RESUMEN EJECUTIVO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63285"/>
            <a:ext cx="10883392" cy="49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Qué muestra el tablero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2493874"/>
            <a:ext cx="3380317" cy="766939"/>
          </a:xfrm>
          <a:prstGeom prst="roundRect">
            <a:avLst>
              <a:gd name="adj" fmla="val 12833"/>
            </a:avLst>
          </a:prstGeom>
          <a:solidFill>
            <a:srgbClr val="FBF8EF"/>
          </a:solidFill>
          <a:ln w="6350">
            <a:solidFill>
              <a:srgbClr val="DDD3B5"/>
            </a:solidFill>
            <a:prstDash val="solid"/>
          </a:ln>
        </p:spPr>
      </p:sp>
      <p:pic>
        <p:nvPicPr>
          <p:cNvPr id="6" name="Image 0" descr="Char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644" y="2699544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9644" y="2735087"/>
            <a:ext cx="183642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Kilos producidos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05842" y="2493874"/>
            <a:ext cx="3380317" cy="766939"/>
          </a:xfrm>
          <a:prstGeom prst="roundRect">
            <a:avLst>
              <a:gd name="adj" fmla="val 12833"/>
            </a:avLst>
          </a:prstGeom>
          <a:solidFill>
            <a:srgbClr val="FBF8EF"/>
          </a:solidFill>
          <a:ln w="6350">
            <a:solidFill>
              <a:srgbClr val="DDD3B5"/>
            </a:solidFill>
            <a:prstDash val="solid"/>
          </a:ln>
        </p:spPr>
      </p:sp>
      <p:pic>
        <p:nvPicPr>
          <p:cNvPr id="9" name="Image 1" descr="Sta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1511" y="2699544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19511" y="2735087"/>
            <a:ext cx="18388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Meta acumulada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95708" y="2493874"/>
            <a:ext cx="3380317" cy="766939"/>
          </a:xfrm>
          <a:prstGeom prst="roundRect">
            <a:avLst>
              <a:gd name="adj" fmla="val 12833"/>
            </a:avLst>
          </a:prstGeom>
          <a:solidFill>
            <a:srgbClr val="FBF8EF"/>
          </a:solidFill>
          <a:ln w="6350">
            <a:solidFill>
              <a:srgbClr val="DDD3B5"/>
            </a:solidFill>
            <a:prstDash val="solid"/>
          </a:ln>
        </p:spPr>
      </p:sp>
      <p:pic>
        <p:nvPicPr>
          <p:cNvPr id="12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1378" y="2699544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09378" y="2735087"/>
            <a:ext cx="155723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Cumplimiento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15975" y="3470363"/>
            <a:ext cx="3380317" cy="766939"/>
          </a:xfrm>
          <a:prstGeom prst="roundRect">
            <a:avLst>
              <a:gd name="adj" fmla="val 12833"/>
            </a:avLst>
          </a:prstGeom>
          <a:solidFill>
            <a:srgbClr val="FBF8EF"/>
          </a:solidFill>
          <a:ln w="6350">
            <a:solidFill>
              <a:srgbClr val="DDD3B5"/>
            </a:solidFill>
            <a:prstDash val="solid"/>
          </a:ln>
        </p:spPr>
      </p:sp>
      <p:pic>
        <p:nvPicPr>
          <p:cNvPr id="15" name="Image 3" descr="ThumbsUp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1644" y="3676033"/>
            <a:ext cx="355600" cy="355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29644" y="3711575"/>
            <a:ext cx="94445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Ingresos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4405842" y="3470363"/>
            <a:ext cx="3380317" cy="766939"/>
          </a:xfrm>
          <a:prstGeom prst="roundRect">
            <a:avLst>
              <a:gd name="adj" fmla="val 12833"/>
            </a:avLst>
          </a:prstGeom>
          <a:solidFill>
            <a:srgbClr val="FBF8EF"/>
          </a:solidFill>
          <a:ln w="6350">
            <a:solidFill>
              <a:srgbClr val="DDD3B5"/>
            </a:solidFill>
            <a:prstDash val="solid"/>
          </a:ln>
        </p:spPr>
      </p:sp>
      <p:pic>
        <p:nvPicPr>
          <p:cNvPr id="18" name="Image 4" descr="Hom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1511" y="3676033"/>
            <a:ext cx="355600" cy="355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19511" y="3711575"/>
            <a:ext cx="235489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Desempeño por finca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7995708" y="3470363"/>
            <a:ext cx="3380317" cy="766939"/>
          </a:xfrm>
          <a:prstGeom prst="roundRect">
            <a:avLst>
              <a:gd name="adj" fmla="val 12833"/>
            </a:avLst>
          </a:prstGeom>
          <a:solidFill>
            <a:srgbClr val="FBF8EF"/>
          </a:solidFill>
          <a:ln w="6350">
            <a:solidFill>
              <a:srgbClr val="DDD3B5"/>
            </a:solidFill>
            <a:prstDash val="solid"/>
          </a:ln>
        </p:spPr>
      </p:sp>
      <p:pic>
        <p:nvPicPr>
          <p:cNvPr id="21" name="Image 5" descr="Activity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01378" y="3676033"/>
            <a:ext cx="355600" cy="355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709378" y="3711575"/>
            <a:ext cx="207782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Evolución mensual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838200" y="5100462"/>
            <a:ext cx="0" cy="741539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1066800" y="5151262"/>
            <a:ext cx="10621772" cy="665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empresa cerró el período por encima de la meta planificada y con resultados positivos en producción e ingresos.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812800" y="6238258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 · Evidencia: proyecto-final-1-resumen.png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10566400" y="6238258"/>
            <a:ext cx="812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/ 10</a:t>
            </a:r>
            <a:endParaRPr lang="en-US" sz="12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4809635D-EAA1-4AC9-A490-80F79A29B32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729" t="15232" r="4701" b="13746"/>
          <a:stretch/>
        </p:blipFill>
        <p:spPr>
          <a:xfrm>
            <a:off x="815975" y="1779675"/>
            <a:ext cx="11017127" cy="32479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359077"/>
            <a:ext cx="627888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HALLAZGO 1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811161"/>
            <a:ext cx="6278880" cy="96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Hacienda Los Ceibos lidera la producción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2949046"/>
            <a:ext cx="627888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6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Interpretación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48730"/>
            <a:ext cx="627888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F4A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Hacienda Los Ceibos fue la finca con mayor aporte a la producción total de la empresa.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4020786"/>
            <a:ext cx="6096000" cy="1274939"/>
          </a:xfrm>
          <a:prstGeom prst="roundRect">
            <a:avLst>
              <a:gd name="adj" fmla="val 7969"/>
            </a:avLst>
          </a:prstGeom>
          <a:solidFill>
            <a:srgbClr val="E8E0C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4223986"/>
            <a:ext cx="586028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Recomendación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523670"/>
            <a:ext cx="5860288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Mantener seguimiento operativo y comercial sobre los factores que impulsan su rendimiento.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0" y="2148858"/>
            <a:ext cx="4064000" cy="2357085"/>
          </a:xfrm>
          <a:prstGeom prst="roundRect">
            <a:avLst>
              <a:gd name="adj" fmla="val 6466"/>
            </a:avLst>
          </a:prstGeom>
          <a:solidFill>
            <a:srgbClr val="1F3A2B"/>
          </a:solidFill>
          <a:ln/>
        </p:spPr>
      </p:sp>
      <p:sp>
        <p:nvSpPr>
          <p:cNvPr id="11" name="Text 9"/>
          <p:cNvSpPr/>
          <p:nvPr/>
        </p:nvSpPr>
        <p:spPr>
          <a:xfrm>
            <a:off x="7670800" y="2504458"/>
            <a:ext cx="34533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Producción de Hacienda Los Ceibos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70800" y="2854942"/>
            <a:ext cx="345338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43.500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670800" y="3794742"/>
            <a:ext cx="3453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58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66400" y="6238258"/>
            <a:ext cx="812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592704"/>
            <a:ext cx="627888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HALLAZGO 2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044788"/>
            <a:ext cx="6278880" cy="49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Una finca no alcanzó la meta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2715330"/>
            <a:ext cx="627888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6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Interpretación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015016"/>
            <a:ext cx="627888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F4A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Fue la única finca que quedó por debajo del objetivo establecido para el cierre.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3787070"/>
            <a:ext cx="6096000" cy="1274939"/>
          </a:xfrm>
          <a:prstGeom prst="roundRect">
            <a:avLst>
              <a:gd name="adj" fmla="val 7969"/>
            </a:avLst>
          </a:prstGeom>
          <a:solidFill>
            <a:srgbClr val="E8E0C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990270"/>
            <a:ext cx="586028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Recomendación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289954"/>
            <a:ext cx="5860288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Revisar planificación operativa, productividad y disponibilidad de cultivos.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0" y="1973616"/>
            <a:ext cx="4064000" cy="2707569"/>
          </a:xfrm>
          <a:prstGeom prst="roundRect">
            <a:avLst>
              <a:gd name="adj" fmla="val 5629"/>
            </a:avLst>
          </a:prstGeom>
          <a:solidFill>
            <a:srgbClr val="5C4033"/>
          </a:solidFill>
          <a:ln/>
        </p:spPr>
      </p:sp>
      <p:sp>
        <p:nvSpPr>
          <p:cNvPr id="11" name="Text 9"/>
          <p:cNvSpPr/>
          <p:nvPr/>
        </p:nvSpPr>
        <p:spPr>
          <a:xfrm>
            <a:off x="7670800" y="2329216"/>
            <a:ext cx="34533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Agrícola La Unión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70800" y="2679700"/>
            <a:ext cx="345338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E8B84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76,61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670800" y="3619500"/>
            <a:ext cx="3453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% de cumplimiento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70800" y="4076700"/>
            <a:ext cx="34533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Por debajo de la meta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58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66400" y="6238258"/>
            <a:ext cx="812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359077"/>
            <a:ext cx="549402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HALLAZGO 3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811161"/>
            <a:ext cx="5494020" cy="96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Banano domina la producción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2949045"/>
            <a:ext cx="549402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6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Interpretación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48732"/>
            <a:ext cx="549402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F4A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Banano fue el principal contribuyente a los resultados de la empresa.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4020784"/>
            <a:ext cx="5334000" cy="1274939"/>
          </a:xfrm>
          <a:prstGeom prst="roundRect">
            <a:avLst>
              <a:gd name="adj" fmla="val 7969"/>
            </a:avLst>
          </a:prstGeom>
          <a:solidFill>
            <a:srgbClr val="E8E0C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4223984"/>
            <a:ext cx="507542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Recomendación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523671"/>
            <a:ext cx="5075428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Priorizar seguimiento de producción y estrategia comercial del cultivo.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56375" y="1653735"/>
            <a:ext cx="4819650" cy="3347332"/>
          </a:xfrm>
          <a:prstGeom prst="roundRect">
            <a:avLst>
              <a:gd name="adj" fmla="val 4458"/>
            </a:avLst>
          </a:prstGeom>
          <a:solidFill>
            <a:srgbClr val="FBF8EF"/>
          </a:solidFill>
          <a:ln w="6350">
            <a:solidFill>
              <a:srgbClr val="DDD3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63645" y="1961003"/>
            <a:ext cx="433126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3D6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PODIO DE CULTIVOS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63645" y="2438490"/>
            <a:ext cx="1274551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1. Banano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93676" y="2438490"/>
            <a:ext cx="1275080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43.500 kg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63645" y="2834658"/>
            <a:ext cx="3911600" cy="2032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6863645" y="3266458"/>
            <a:ext cx="1161203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 Mango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07222" y="3266458"/>
            <a:ext cx="1261533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33.400 kg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63645" y="3662626"/>
            <a:ext cx="3003550" cy="203200"/>
          </a:xfrm>
          <a:prstGeom prst="roundRect">
            <a:avLst>
              <a:gd name="adj" fmla="val 25000"/>
            </a:avLst>
          </a:prstGeom>
          <a:solidFill>
            <a:srgbClr val="6B9B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63645" y="4094426"/>
            <a:ext cx="88032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 Maíz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07222" y="4094426"/>
            <a:ext cx="1261533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25.200 kg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63645" y="4490597"/>
            <a:ext cx="2266950" cy="203200"/>
          </a:xfrm>
          <a:prstGeom prst="roundRect">
            <a:avLst>
              <a:gd name="adj" fmla="val 25000"/>
            </a:avLst>
          </a:prstGeom>
          <a:solidFill>
            <a:srgbClr val="6B9B4A"/>
          </a:solidFill>
          <a:ln/>
        </p:spPr>
      </p:sp>
      <p:sp>
        <p:nvSpPr>
          <p:cNvPr id="21" name="Text 19"/>
          <p:cNvSpPr/>
          <p:nvPr/>
        </p:nvSpPr>
        <p:spPr>
          <a:xfrm>
            <a:off x="812800" y="6238258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66400" y="6238258"/>
            <a:ext cx="812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ESCENARIO DE PLANEACIÓN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63284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1E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¿Qué pasa si aumentamos la meta?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2648834"/>
            <a:ext cx="3386667" cy="1847321"/>
          </a:xfrm>
          <a:prstGeom prst="roundRect">
            <a:avLst>
              <a:gd name="adj" fmla="val 5500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902834"/>
            <a:ext cx="2965027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Escenario evaluado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800" y="3202518"/>
            <a:ext cx="2965027" cy="69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110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66800" y="3923860"/>
            <a:ext cx="296502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% de la meta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2667" y="2648834"/>
            <a:ext cx="3386667" cy="1847321"/>
          </a:xfrm>
          <a:prstGeom prst="roundRect">
            <a:avLst>
              <a:gd name="adj" fmla="val 5500"/>
            </a:avLst>
          </a:prstGeom>
          <a:solidFill>
            <a:srgbClr val="2A4A38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67" y="2648834"/>
            <a:ext cx="3386667" cy="1847321"/>
          </a:xfrm>
          <a:custGeom>
            <a:avLst/>
            <a:gdLst/>
            <a:ahLst/>
            <a:cxnLst/>
            <a:rect l="l" t="t" r="r" b="b"/>
            <a:pathLst>
              <a:path w="3386667" h="184732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67" y="0"/>
                </a:lnTo>
                <a:arcTo wR="101600" hR="101600" stAng="16200000" swAng="5400000"/>
                <a:lnTo>
                  <a:pt x="338666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4656667" y="2936698"/>
            <a:ext cx="2965027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Meta ajustada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6667" y="3236382"/>
            <a:ext cx="2965027" cy="69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5F1E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121.000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656667" y="3957727"/>
            <a:ext cx="296502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92533" y="2648834"/>
            <a:ext cx="3386667" cy="1847321"/>
          </a:xfrm>
          <a:prstGeom prst="roundRect">
            <a:avLst>
              <a:gd name="adj" fmla="val 5500"/>
            </a:avLst>
          </a:prstGeom>
          <a:solidFill>
            <a:srgbClr val="2A4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533" y="2648834"/>
            <a:ext cx="3386667" cy="1847321"/>
          </a:xfrm>
          <a:custGeom>
            <a:avLst/>
            <a:gdLst/>
            <a:ahLst/>
            <a:cxnLst/>
            <a:rect l="l" t="t" r="r" b="b"/>
            <a:pathLst>
              <a:path w="3386667" h="184732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67" y="0"/>
                </a:lnTo>
                <a:arcTo wR="101600" hR="101600" stAng="16200000" swAng="5400000"/>
                <a:lnTo>
                  <a:pt x="338666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8246533" y="2936698"/>
            <a:ext cx="2965027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Cumplimiento ajustado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6533" y="3236382"/>
            <a:ext cx="2965027" cy="69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112,89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246533" y="3957727"/>
            <a:ext cx="296502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" y="5455974"/>
            <a:ext cx="0" cy="386027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6800" y="5506774"/>
            <a:ext cx="1062177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modelo permite simular incrementos de meta y evaluar el impacto sobre el desempeño esperado.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58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66400" y="6238258"/>
            <a:ext cx="812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ADVERTENCIA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63284"/>
            <a:ext cx="10883392" cy="49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No todos los kilos significan lo mismo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2291203"/>
            <a:ext cx="5181600" cy="1915054"/>
          </a:xfrm>
          <a:prstGeom prst="roundRect">
            <a:avLst>
              <a:gd name="adj" fmla="val 7958"/>
            </a:avLst>
          </a:prstGeom>
          <a:solidFill>
            <a:srgbClr val="1F3A2B"/>
          </a:solidFill>
          <a:ln/>
        </p:spPr>
      </p:sp>
      <p:sp>
        <p:nvSpPr>
          <p:cNvPr id="6" name="Text 4"/>
          <p:cNvSpPr/>
          <p:nvPr/>
        </p:nvSpPr>
        <p:spPr>
          <a:xfrm>
            <a:off x="1117600" y="2596003"/>
            <a:ext cx="470916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Kilos cosechados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895690"/>
            <a:ext cx="4709160" cy="69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91.300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117600" y="3617032"/>
            <a:ext cx="47091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kg · momento de la cosecha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7600" y="2291203"/>
            <a:ext cx="5181600" cy="1915054"/>
          </a:xfrm>
          <a:prstGeom prst="roundRect">
            <a:avLst>
              <a:gd name="adj" fmla="val 7958"/>
            </a:avLst>
          </a:prstGeom>
          <a:solidFill>
            <a:srgbClr val="5C4033"/>
          </a:solidFill>
          <a:ln/>
        </p:spPr>
      </p:sp>
      <p:sp>
        <p:nvSpPr>
          <p:cNvPr id="10" name="Text 8"/>
          <p:cNvSpPr/>
          <p:nvPr/>
        </p:nvSpPr>
        <p:spPr>
          <a:xfrm>
            <a:off x="6502400" y="2596003"/>
            <a:ext cx="470916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Kilos entregados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02400" y="2895690"/>
            <a:ext cx="4709160" cy="69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E8B84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137.000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502400" y="3617032"/>
            <a:ext cx="47091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kg · fecha de cobro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4866745"/>
            <a:ext cx="10566400" cy="975254"/>
          </a:xfrm>
          <a:prstGeom prst="roundRect">
            <a:avLst>
              <a:gd name="adj" fmla="val 10418"/>
            </a:avLst>
          </a:prstGeom>
          <a:solidFill>
            <a:srgbClr val="E8E0C8"/>
          </a:solidFill>
          <a:ln/>
        </p:spPr>
      </p:sp>
      <p:pic>
        <p:nvPicPr>
          <p:cNvPr id="14" name="Image 0" descr="Warning"/>
          <p:cNvPicPr>
            <a:picLocks noChangeAspect="1"/>
          </p:cNvPicPr>
          <p:nvPr/>
        </p:nvPicPr>
        <p:blipFill>
          <a:blip r:embed="rId3"/>
          <a:srcRect t="-643" b="-643"/>
          <a:stretch/>
        </p:blipFill>
        <p:spPr>
          <a:xfrm>
            <a:off x="1016000" y="5176574"/>
            <a:ext cx="219428" cy="355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87828" y="5069945"/>
            <a:ext cx="10081817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F3A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 kilos cosechados y los entregados corresponden a momentos distintos del proceso. Las entregas usan la fecha de cobro y pueden pertenecer a cosechas de otros períodos.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58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66400" y="6238258"/>
            <a:ext cx="812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LECCIONES APRENDIDAS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63284"/>
            <a:ext cx="10883392" cy="49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Dos errores detectados antes del cierre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2356027"/>
            <a:ext cx="5175250" cy="1998663"/>
          </a:xfrm>
          <a:prstGeom prst="roundRect">
            <a:avLst>
              <a:gd name="adj" fmla="val 4925"/>
            </a:avLst>
          </a:prstGeom>
          <a:solidFill>
            <a:srgbClr val="FBF8EF"/>
          </a:solidFill>
          <a:ln w="6350">
            <a:solidFill>
              <a:srgbClr val="DDD3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244" y="2663295"/>
            <a:ext cx="469753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Caso 1 · Archivo duplicado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244" y="3013782"/>
            <a:ext cx="4697532" cy="32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bascula_2026-03 - copia.csv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3244" y="3412508"/>
            <a:ext cx="469753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6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Impacto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3244" y="3762992"/>
            <a:ext cx="469753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F4A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Duplicaba cosechas y kilos.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00775" y="2356027"/>
            <a:ext cx="5175250" cy="1998663"/>
          </a:xfrm>
          <a:prstGeom prst="roundRect">
            <a:avLst>
              <a:gd name="adj" fmla="val 4925"/>
            </a:avLst>
          </a:prstGeom>
          <a:solidFill>
            <a:srgbClr val="FBF8EF"/>
          </a:solidFill>
          <a:ln w="6350">
            <a:solidFill>
              <a:srgbClr val="DDD3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8045" y="2663295"/>
            <a:ext cx="469753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Caso 2 · Encabezado incorrecto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08045" y="3013782"/>
            <a:ext cx="4697532" cy="32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kg_neto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8045" y="3412508"/>
            <a:ext cx="469753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6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Impacto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08045" y="3762992"/>
            <a:ext cx="4864805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F4A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Generaba inconsistencias en los kilos reportados.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" y="50800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1F3A2B"/>
          </a:solidFill>
          <a:ln/>
        </p:spPr>
      </p:sp>
      <p:pic>
        <p:nvPicPr>
          <p:cNvPr id="16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5283200"/>
            <a:ext cx="355600" cy="355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74800" y="5318745"/>
            <a:ext cx="8468995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Resultado:</a:t>
            </a: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las validaciones permitieron garantizar la calidad del modelo final.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61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66400" y="6238261"/>
            <a:ext cx="812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CONTROLES APLICADOS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63284"/>
            <a:ext cx="10883392" cy="49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F3A2B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¿Por qué creerle a este tablero?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3129490"/>
            <a:ext cx="3386667" cy="1254654"/>
          </a:xfrm>
          <a:prstGeom prst="roundRect">
            <a:avLst>
              <a:gd name="adj" fmla="val 8098"/>
            </a:avLst>
          </a:prstGeom>
          <a:solidFill>
            <a:srgbClr val="1F3A2B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3383490"/>
            <a:ext cx="2965027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53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66800" y="3881264"/>
            <a:ext cx="2965027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cosechas procesadas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67" y="3129490"/>
            <a:ext cx="3386667" cy="1254654"/>
          </a:xfrm>
          <a:prstGeom prst="roundRect">
            <a:avLst>
              <a:gd name="adj" fmla="val 8098"/>
            </a:avLst>
          </a:prstGeom>
          <a:solidFill>
            <a:srgbClr val="1F3A2B"/>
          </a:solidFill>
          <a:ln/>
        </p:spPr>
      </p:sp>
      <p:sp>
        <p:nvSpPr>
          <p:cNvPr id="9" name="Text 7"/>
          <p:cNvSpPr/>
          <p:nvPr/>
        </p:nvSpPr>
        <p:spPr>
          <a:xfrm>
            <a:off x="4656667" y="3383490"/>
            <a:ext cx="2965027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56667" y="3881264"/>
            <a:ext cx="2965027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cosechas repetidas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533" y="3129490"/>
            <a:ext cx="3386667" cy="1254654"/>
          </a:xfrm>
          <a:prstGeom prst="roundRect">
            <a:avLst>
              <a:gd name="adj" fmla="val 8098"/>
            </a:avLst>
          </a:prstGeom>
          <a:solidFill>
            <a:srgbClr val="1F3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46533" y="3383490"/>
            <a:ext cx="2965027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110.000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46533" y="3881264"/>
            <a:ext cx="2965027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kg de meta anual validada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4587348"/>
            <a:ext cx="5181600" cy="1254654"/>
          </a:xfrm>
          <a:prstGeom prst="roundRect">
            <a:avLst>
              <a:gd name="adj" fmla="val 8098"/>
            </a:avLst>
          </a:prstGeom>
          <a:solidFill>
            <a:srgbClr val="1F3A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4841348"/>
            <a:ext cx="4813808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066800" y="5339116"/>
            <a:ext cx="481380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registros en h_meta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7600" y="4587348"/>
            <a:ext cx="5181600" cy="1254654"/>
          </a:xfrm>
          <a:prstGeom prst="roundRect">
            <a:avLst>
              <a:gd name="adj" fmla="val 8098"/>
            </a:avLst>
          </a:prstGeom>
          <a:solidFill>
            <a:srgbClr val="1F3A2B"/>
          </a:solidFill>
          <a:ln/>
        </p:spPr>
      </p:sp>
      <p:pic>
        <p:nvPicPr>
          <p:cNvPr id="18" name="Image 0" descr="Verifi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51600" y="4841348"/>
            <a:ext cx="406400" cy="406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51600" y="5298548"/>
            <a:ext cx="481380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Seguridad dinámica validada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2800" y="6238261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 · Evidencia: proyecto-final-3-auditoria.png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66400" y="6238261"/>
            <a:ext cx="812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655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 rotWithShape="1">
            <a:gsLst>
              <a:gs pos="0">
                <a:srgbClr val="6B9B4A"/>
              </a:gs>
              <a:gs pos="50000">
                <a:srgbClr val="6B9B4A"/>
              </a:gs>
              <a:gs pos="50000">
                <a:srgbClr val="4F7A38"/>
              </a:gs>
              <a:gs pos="100000">
                <a:srgbClr val="4F7A38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63284"/>
            <a:ext cx="10883392" cy="96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5F1E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AgroDB superó la meta acumulada del período enero–septiembre 2026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2741613"/>
            <a:ext cx="2489200" cy="1486606"/>
          </a:xfrm>
          <a:prstGeom prst="roundRect">
            <a:avLst>
              <a:gd name="adj" fmla="val 6834"/>
            </a:avLst>
          </a:prstGeom>
          <a:solidFill>
            <a:srgbClr val="2A4A38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741613"/>
            <a:ext cx="2489200" cy="1486606"/>
          </a:xfrm>
          <a:custGeom>
            <a:avLst/>
            <a:gdLst/>
            <a:ahLst/>
            <a:cxnLst/>
            <a:rect l="l" t="t" r="r" b="b"/>
            <a:pathLst>
              <a:path w="2489200" h="148660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387600" y="0"/>
                </a:lnTo>
                <a:arcTo wR="101600" hR="101600" stAng="16200000" swAng="5400000"/>
                <a:lnTo>
                  <a:pt x="24892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978677"/>
            <a:ext cx="21452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Kilos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3278367"/>
            <a:ext cx="2145284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91.300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16000" y="3776135"/>
            <a:ext cx="21452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05200" y="2741613"/>
            <a:ext cx="2489200" cy="1486606"/>
          </a:xfrm>
          <a:prstGeom prst="roundRect">
            <a:avLst>
              <a:gd name="adj" fmla="val 6834"/>
            </a:avLst>
          </a:prstGeom>
          <a:solidFill>
            <a:srgbClr val="2A4A38"/>
          </a:solidFill>
          <a:ln/>
        </p:spPr>
      </p:sp>
      <p:sp>
        <p:nvSpPr>
          <p:cNvPr id="11" name="Shape 9"/>
          <p:cNvSpPr/>
          <p:nvPr/>
        </p:nvSpPr>
        <p:spPr>
          <a:xfrm>
            <a:off x="3505200" y="2741613"/>
            <a:ext cx="2489200" cy="1486606"/>
          </a:xfrm>
          <a:custGeom>
            <a:avLst/>
            <a:gdLst/>
            <a:ahLst/>
            <a:cxnLst/>
            <a:rect l="l" t="t" r="r" b="b"/>
            <a:pathLst>
              <a:path w="2489200" h="148660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387600" y="0"/>
                </a:lnTo>
                <a:arcTo wR="101600" hR="101600" stAng="16200000" swAng="5400000"/>
                <a:lnTo>
                  <a:pt x="24892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3708400" y="2978677"/>
            <a:ext cx="21452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8400" y="3278367"/>
            <a:ext cx="2145284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1E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86.200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08400" y="3776135"/>
            <a:ext cx="21452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7600" y="2741613"/>
            <a:ext cx="2489200" cy="1486606"/>
          </a:xfrm>
          <a:prstGeom prst="roundRect">
            <a:avLst>
              <a:gd name="adj" fmla="val 6834"/>
            </a:avLst>
          </a:prstGeom>
          <a:solidFill>
            <a:srgbClr val="2A4A3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7600" y="2741613"/>
            <a:ext cx="2489200" cy="1486606"/>
          </a:xfrm>
          <a:custGeom>
            <a:avLst/>
            <a:gdLst/>
            <a:ahLst/>
            <a:cxnLst/>
            <a:rect l="l" t="t" r="r" b="b"/>
            <a:pathLst>
              <a:path w="2489200" h="148660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387600" y="0"/>
                </a:lnTo>
                <a:arcTo wR="101600" hR="101600" stAng="16200000" swAng="5400000"/>
                <a:lnTo>
                  <a:pt x="24892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978677"/>
            <a:ext cx="21452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278367"/>
            <a:ext cx="2145284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D9A441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105,92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00800" y="3776135"/>
            <a:ext cx="21452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90000" y="2741613"/>
            <a:ext cx="2489200" cy="1486606"/>
          </a:xfrm>
          <a:prstGeom prst="roundRect">
            <a:avLst>
              <a:gd name="adj" fmla="val 6834"/>
            </a:avLst>
          </a:prstGeom>
          <a:solidFill>
            <a:srgbClr val="2A4A38"/>
          </a:solidFill>
          <a:ln/>
        </p:spPr>
      </p:sp>
      <p:sp>
        <p:nvSpPr>
          <p:cNvPr id="21" name="Shape 19"/>
          <p:cNvSpPr/>
          <p:nvPr/>
        </p:nvSpPr>
        <p:spPr>
          <a:xfrm>
            <a:off x="8890000" y="2741613"/>
            <a:ext cx="2489200" cy="1486606"/>
          </a:xfrm>
          <a:custGeom>
            <a:avLst/>
            <a:gdLst/>
            <a:ahLst/>
            <a:cxnLst/>
            <a:rect l="l" t="t" r="r" b="b"/>
            <a:pathLst>
              <a:path w="2489200" h="148660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387600" y="0"/>
                </a:lnTo>
                <a:arcTo wR="101600" hR="101600" stAng="16200000" swAng="5400000"/>
                <a:lnTo>
                  <a:pt x="24892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9093200" y="2978677"/>
            <a:ext cx="21452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B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Ingresos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3200" y="3278367"/>
            <a:ext cx="2145284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1E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47,17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093200" y="3776135"/>
            <a:ext cx="2145284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8200" y="4871864"/>
            <a:ext cx="0" cy="970139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6800" y="4922664"/>
            <a:ext cx="1062177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MENSAJE PARA DIRECCIÓN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66800" y="5222348"/>
            <a:ext cx="1062177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1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empresa cerró el período con cumplimiento positivo, producción superior a la meta planificada y un modelo auditado que proporciona información confiable para la toma de decisiones.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61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AgroDB · Cierre septiembre 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66400" y="6238261"/>
            <a:ext cx="812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oDB Cierre Septiembre 2026">
  <a:themeElements>
    <a:clrScheme name="AgroDB Cierre Septiembre 2026">
      <a:dk1>
        <a:srgbClr val="1F3A2B"/>
      </a:dk1>
      <a:lt1>
        <a:srgbClr val="F5F1E6"/>
      </a:lt1>
      <a:dk2>
        <a:srgbClr val="55685A"/>
      </a:dk2>
      <a:lt2>
        <a:srgbClr val="E0DFD3"/>
      </a:lt2>
      <a:accent1>
        <a:srgbClr val="6B9B4A"/>
      </a:accent1>
      <a:accent2>
        <a:srgbClr val="4F7A38"/>
      </a:accent2>
      <a:accent3>
        <a:srgbClr val="D9A441"/>
      </a:accent3>
      <a:accent4>
        <a:srgbClr val="8A5A12"/>
      </a:accent4>
      <a:accent5>
        <a:srgbClr val="3D6B2A"/>
      </a:accent5>
      <a:accent6>
        <a:srgbClr val="5C4033"/>
      </a:accent6>
      <a:hlink>
        <a:srgbClr val="0563C1"/>
      </a:hlink>
      <a:folHlink>
        <a:srgbClr val="954F72"/>
      </a:folHlink>
    </a:clrScheme>
    <a:fontScheme name="AgroDB Cierre Septiembre 2026">
      <a:majorFont>
        <a:latin typeface="Dom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953</Words>
  <Application>Microsoft Office PowerPoint</Application>
  <PresentationFormat>Panorámica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Domine</vt:lpstr>
      <vt:lpstr>Nunito Sans</vt:lpstr>
      <vt:lpstr>AgroDB Cierre Septiembre 2026</vt:lpstr>
      <vt:lpstr>El cierre en una línea</vt:lpstr>
      <vt:lpstr>Qué muestra el tablero</vt:lpstr>
      <vt:lpstr>Hacienda Los Ceibos lidera la producción</vt:lpstr>
      <vt:lpstr>Una finca no alcanzó la meta</vt:lpstr>
      <vt:lpstr>Banano domina la producción</vt:lpstr>
      <vt:lpstr>¿Qué pasa si aumentamos la meta?</vt:lpstr>
      <vt:lpstr>No todos los kilos significan lo mismo</vt:lpstr>
      <vt:lpstr>Dos errores detectados antes del cierre</vt:lpstr>
      <vt:lpstr>¿Por qué creerle a este tablero?</vt:lpstr>
      <vt:lpstr>AgroDB superó la meta acumulada del período enero–septiembre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AgroDB Cierre Septiembre 2026</dc:title>
  <dc:subject/>
  <dc:creator/>
  <cp:lastModifiedBy>Brando Manuel Herrera Diaz</cp:lastModifiedBy>
  <cp:revision>2</cp:revision>
  <dcterms:created xsi:type="dcterms:W3CDTF">2026-10-12T02:46:59Z</dcterms:created>
  <dcterms:modified xsi:type="dcterms:W3CDTF">2026-10-12T02:49:57Z</dcterms:modified>
</cp:coreProperties>
</file>